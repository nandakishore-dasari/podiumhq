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evaluators. Welcome to my DevSecOps Capstone presentation on PodiumHQ. Rather than cloning a generic TaskBoard, PodiumHQ addresses the operational challenge of running large-scale hackathons and technical project evaluations. In this presentation, I will walk you through the entire cloud-native lifecycle: from our 91% coverage backend and hardened non-root containers, to our GitHub Actions CI/CD with Trivy gates, Terraform AWS infrastructure, ArgoCD GitOps, and Prometheus observability.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2, we break down the application architecture across three distinct tiers. Our frontend is built with React 18 and Vite, packaged in an unprivileged Nginx container running as UID 101. Our backend is powered by FastAPI and Python 3.12, providing high-throughput async REST endpoints. All data is persisted in PostgreSQL 16 using SQLAlchemy 2.0 and Alembic migrations. Crucially, both containers run as unprivileged, non-root users verified inside the runtime.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presents our end-to-end architecture diagram. Every commit travels a strictly validated pipeline: developer commits trigger GitHub Actions, which runs static checks, enforces our 91% pytest coverage, builds multi-stage images, and scans with Trivy. Images are published to GHCR with immutable Git SHA tags. ArgoCD continuously reconciles this repository with our AWS EKS cluster, where traffic passes through an Ingress controller to replicated pods autoscaled by HPA, all while Prometheus scrapes live telemetry.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4, we examine our CI/CD implementation defined in .github/workflows/ci-cd.yml. The pipeline enforces three sequential quality gates. First, Ruff and Mypy perform automated static analysis. Second, Pytest executes 31 tests and verifies our coverage threshold. Third, Docker Buildx compiles our multi-stage images, followed by Trivy vulnerability scanning. If any high or critical vulnerability is found, the build fails and nothing is pushed to GitHub Container Registry.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covers our Infrastructure as Code implemented in the terraform/ directory. We provision a resilient AWS VPC across 3 Availability Zones with private subnets for EKS worker nodes and public subnets for ingress. The cluster runs Kubernetes 1.30 with an autoscaling managed node group. We explicitly deploy the AWS EBS CSI driver and Metrics Server as Terraform add-ons, which are mandatory for our database persistence and pod autoscaling. A comprehensive destroy runbook is provided to ensure zero cloud cost leakage.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details our Kubernetes packaging in helm/podiumhq. Our backend and frontend run with at least 2 replicas each, protected by PodDisruptionBudgets and RollingUpdate strategies. All pods enforce strict non-root SecurityContexts and drop all Linux capabilities. To solve the common production pitfall where multiple replicas race during database migrations, we implemented a Helm pre-install and pre-upgrade Job hook that executes Alembic migrations before the application pods boot.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7, we present GitOps continuous delivery powered by ArgoCD. In argocd/application.yaml, ArgoCD monitors our repository and uses values-prod.yaml to deploy the application. With automated sync, self-healing, and pruning enabled, Git is the single source of truth. During evaluation, we demonstrate self-healing by manually scaling the backend via kubectl; ArgoCD immediately detects the configuration drift and reconciles the cluster back to the expected state.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covers our observability stack. Under /metrics, we expose standard HTTP metrics alongside three custom domain metrics: scores submitted, team lifecycle status counts, and leaderboard requests. Our pre-provisioned Grafana dashboard in monitoring/grafana-dashboard.json visualizes throughput, p95 latencies, and business activity. We also include PrometheusRule alerts that trigger notifications if the backend goes down or if 5xx errors exceed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highlights our quality assurance and the real engineering obstacles we resolved. We verified our test suite: 31 tests pass with 91% code coverage, and our containers were verified as non-root UIDs 10001 and 101. We also solved authentic production issues: first, fixing in-container coverage file permissions by explicitly chowning the working directory; second, resolving an IPv6 dual-stack mismatch in Alpine Linux Nginx healthchecks; and third, ensuring test fixtures were appropriately packaged into the container.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on Slide 10: PodiumHQ successfully satisfies the 100-point Capstone Grading Rubric. Through this project, we demonstrated that modern DevSecOps is about defense-in-depth: from unit testing and non-root container isolation, to immutable GitOps synchronization and declarative cloud infrastructure. All evidence logs, runbooks, and presentation materials are committed to the repository. Thank you for your attention, and I am now ready for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MODULE CHECKPOINT • PROJECT OVERVIEW &amp; IDENTITY</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1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PodiumHQ — DevSecOps Capstone</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Autonomous Hackathon &amp; Event Judging Platform with Hardened GitOps Delivery</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F59E0B"/>
                </a:solidFill>
                <a:latin typeface="Arial"/>
              </a:defRPr>
            </a:pPr>
            <a:r>
              <a:t>Core Problem Solved</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Replaces error-prone manual spreadsheets with an automated multi-criteria evaluation platform.</a:t>
            </a:r>
          </a:p>
          <a:p>
            <a:pPr>
              <a:spcAft>
                <a:spcPts val="800"/>
              </a:spcAft>
              <a:defRPr sz="1200">
                <a:solidFill>
                  <a:srgbClr val="F8FAFC"/>
                </a:solidFill>
                <a:latin typeface="Calibri"/>
              </a:defRPr>
            </a:pPr>
            <a:r>
              <a:t>• Provides real-time weighted scoring across rounds with dynamic tie-breaking and rank calculation.</a:t>
            </a:r>
          </a:p>
          <a:p>
            <a:pPr>
              <a:spcAft>
                <a:spcPts val="800"/>
              </a:spcAft>
              <a:defRPr sz="1200">
                <a:solidFill>
                  <a:srgbClr val="F8FAFC"/>
                </a:solidFill>
                <a:latin typeface="Calibri"/>
              </a:defRPr>
            </a:pPr>
            <a:r>
              <a:t>• Engineered specifically to solve high-concurrency judging deadlines with zero downtime.</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DevSecOps Mission &amp; Scope</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Demonstrates the full software delivery journey from local commit to cloud-native production.</a:t>
            </a:r>
          </a:p>
          <a:p>
            <a:pPr>
              <a:spcAft>
                <a:spcPts val="800"/>
              </a:spcAft>
              <a:defRPr sz="1200">
                <a:solidFill>
                  <a:srgbClr val="F8FAFC"/>
                </a:solidFill>
                <a:latin typeface="Calibri"/>
              </a:defRPr>
            </a:pPr>
            <a:r>
              <a:t>• Enforces security gates: non-root containers, Trivy CVE scanning, and Gitleaks detection.</a:t>
            </a:r>
          </a:p>
          <a:p>
            <a:pPr>
              <a:spcAft>
                <a:spcPts val="800"/>
              </a:spcAft>
              <a:defRPr sz="1200">
                <a:solidFill>
                  <a:srgbClr val="F8FAFC"/>
                </a:solidFill>
                <a:latin typeface="Calibri"/>
              </a:defRPr>
            </a:pPr>
            <a:r>
              <a:t>• Delivers declarative GitOps via ArgoCD, Helm 3 packaging, and Terraform-provisioned AWS EKS.</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38BDF8"/>
                </a:solidFill>
                <a:latin typeface="Arial"/>
              </a:defRPr>
            </a:pPr>
            <a:r>
              <a:t>Project Metadata</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Author: Platform Engineering / DevSecOps Candidate</a:t>
            </a:r>
          </a:p>
          <a:p>
            <a:pPr>
              <a:spcAft>
                <a:spcPts val="800"/>
              </a:spcAft>
              <a:defRPr sz="1200">
                <a:solidFill>
                  <a:srgbClr val="F8FAFC"/>
                </a:solidFill>
                <a:latin typeface="Calibri"/>
              </a:defRPr>
            </a:pPr>
            <a:r>
              <a:t>• Domain: Hackathon &amp; Event Evaluation (Original Domain, Zero TaskBoard Overlap)</a:t>
            </a:r>
          </a:p>
          <a:p>
            <a:pPr>
              <a:spcAft>
                <a:spcPts val="800"/>
              </a:spcAft>
              <a:defRPr sz="1200">
                <a:solidFill>
                  <a:srgbClr val="F8FAFC"/>
                </a:solidFill>
                <a:latin typeface="Calibri"/>
              </a:defRPr>
            </a:pPr>
            <a:r>
              <a:t>• Rubric Target: 100/100 Points across Modules M1 through M10</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 GitOps, Automated Verification &amp; Observability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MODULE CHECKPOINT • TECH STACK SPECIFICATION</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2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Application &amp; Technology Stack</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High-Performance Modern Web Architecture with Relational Integrity</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Frontend Tier (React 18 SPA)</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React 18 + Vite with Tailwind CSS styling in an Obsidian &amp; Solar Gold palette.</a:t>
            </a:r>
          </a:p>
          <a:p>
            <a:pPr>
              <a:spcAft>
                <a:spcPts val="800"/>
              </a:spcAft>
              <a:defRPr sz="1200">
                <a:solidFill>
                  <a:srgbClr val="F8FAFC"/>
                </a:solidFill>
                <a:latin typeface="Calibri"/>
              </a:defRPr>
            </a:pPr>
            <a:r>
              <a:t>• Live leaderboard with instantaneous client-side ranking and category filtering.</a:t>
            </a:r>
          </a:p>
          <a:p>
            <a:pPr>
              <a:spcAft>
                <a:spcPts val="800"/>
              </a:spcAft>
              <a:defRPr sz="1200">
                <a:solidFill>
                  <a:srgbClr val="F8FAFC"/>
                </a:solidFill>
                <a:latin typeface="Calibri"/>
              </a:defRPr>
            </a:pPr>
            <a:r>
              <a:t>• Responsive judge scoring form with client-side bounds and schema validation.</a:t>
            </a:r>
          </a:p>
          <a:p>
            <a:pPr>
              <a:spcAft>
                <a:spcPts val="800"/>
              </a:spcAft>
              <a:defRPr sz="1200">
                <a:solidFill>
                  <a:srgbClr val="F8FAFC"/>
                </a:solidFill>
                <a:latin typeface="Calibri"/>
              </a:defRPr>
            </a:pPr>
            <a:r>
              <a:t>• Runtime: Served via unprivileged Nginx (UID 101) with dynamic proxying to backend.</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Backend Tier (FastAPI Async API)</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Python 3.12 running asynchronous FastAPI ASGI server with Uvicorn.</a:t>
            </a:r>
          </a:p>
          <a:p>
            <a:pPr>
              <a:spcAft>
                <a:spcPts val="800"/>
              </a:spcAft>
              <a:defRPr sz="1200">
                <a:solidFill>
                  <a:srgbClr val="F8FAFC"/>
                </a:solidFill>
                <a:latin typeface="Calibri"/>
              </a:defRPr>
            </a:pPr>
            <a:r>
              <a:t>• 15+ RESTful endpoints under /api/events, /api/teams, /api/judges, /api/scores, and /api/leaderboard.</a:t>
            </a:r>
          </a:p>
          <a:p>
            <a:pPr>
              <a:spcAft>
                <a:spcPts val="800"/>
              </a:spcAft>
              <a:defRPr sz="1200">
                <a:solidFill>
                  <a:srgbClr val="F8FAFC"/>
                </a:solidFill>
                <a:latin typeface="Calibri"/>
              </a:defRPr>
            </a:pPr>
            <a:r>
              <a:t>• Operational probes: /health (liveness), /ready (database ping), and /metrics (Prometheus).</a:t>
            </a:r>
          </a:p>
          <a:p>
            <a:pPr>
              <a:spcAft>
                <a:spcPts val="800"/>
              </a:spcAft>
              <a:defRPr sz="1200">
                <a:solidFill>
                  <a:srgbClr val="F8FAFC"/>
                </a:solidFill>
                <a:latin typeface="Calibri"/>
              </a:defRPr>
            </a:pPr>
            <a:r>
              <a:t>• Runtime: Hardened Python container running strictly as non-root appuser (UID 10001).</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Data &amp; Persistence Tier (PostgreSQL 16)</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PostgreSQL 16 relational database with Psycopg 3 connection pooling.</a:t>
            </a:r>
          </a:p>
          <a:p>
            <a:pPr>
              <a:spcAft>
                <a:spcPts val="800"/>
              </a:spcAft>
              <a:defRPr sz="1200">
                <a:solidFill>
                  <a:srgbClr val="F8FAFC"/>
                </a:solidFill>
                <a:latin typeface="Calibri"/>
              </a:defRPr>
            </a:pPr>
            <a:r>
              <a:t>• SQLAlchemy 2.0 ORM with relational foreign keys, unique constraints, and indexes.</a:t>
            </a:r>
          </a:p>
          <a:p>
            <a:pPr>
              <a:spcAft>
                <a:spcPts val="800"/>
              </a:spcAft>
              <a:defRPr sz="1200">
                <a:solidFill>
                  <a:srgbClr val="F8FAFC"/>
                </a:solidFill>
                <a:latin typeface="Calibri"/>
              </a:defRPr>
            </a:pPr>
            <a:r>
              <a:t>• Alembic schema migrations with automated pre-upgrade execution.</a:t>
            </a:r>
          </a:p>
          <a:p>
            <a:pPr>
              <a:spcAft>
                <a:spcPts val="800"/>
              </a:spcAft>
              <a:defRPr sz="1200">
                <a:solidFill>
                  <a:srgbClr val="F8FAFC"/>
                </a:solidFill>
                <a:latin typeface="Calibri"/>
              </a:defRPr>
            </a:pPr>
            <a:r>
              <a:t>• Cloud Storage: AWS EBS gp3 volume claim via AWS EBS CSI driver.</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 GitOps, Automated Verification &amp; Observability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MODULE CHECKPOINT • SYSTEM ARCHITECTURE DIAGRAM</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3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End-to-End System Architecture</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Complete Flow: Developer -&gt; CI/CD -&gt; GitOps -&gt; AWS Cloud -&gt; Observability</a:t>
            </a:r>
          </a:p>
        </p:txBody>
      </p:sp>
      <p:sp>
        <p:nvSpPr>
          <p:cNvPr id="8" name="Rounded Rectangle 7"/>
          <p:cNvSpPr/>
          <p:nvPr/>
        </p:nvSpPr>
        <p:spPr>
          <a:xfrm>
            <a:off x="731520"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1. Developer</a:t>
            </a:r>
          </a:p>
          <a:p>
            <a:pPr algn="ctr">
              <a:defRPr sz="900">
                <a:solidFill>
                  <a:srgbClr val="94A3B8"/>
                </a:solidFill>
                <a:latin typeface="Calibri"/>
              </a:defRPr>
            </a:pPr>
            <a:r>
              <a:t>Git Push / Main</a:t>
            </a:r>
          </a:p>
        </p:txBody>
      </p:sp>
      <p:sp>
        <p:nvSpPr>
          <p:cNvPr id="9" name="Rounded Rectangle 8"/>
          <p:cNvSpPr/>
          <p:nvPr/>
        </p:nvSpPr>
        <p:spPr>
          <a:xfrm>
            <a:off x="2542032" y="1828800"/>
            <a:ext cx="1645920" cy="7772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2. GitHub Actions</a:t>
            </a:r>
          </a:p>
          <a:p>
            <a:pPr algn="ctr">
              <a:defRPr sz="900">
                <a:solidFill>
                  <a:srgbClr val="94A3B8"/>
                </a:solidFill>
                <a:latin typeface="Calibri"/>
              </a:defRPr>
            </a:pPr>
            <a:r>
              <a:t>Lint -&gt; Pytest 91% -&gt; Trivy</a:t>
            </a:r>
          </a:p>
        </p:txBody>
      </p:sp>
      <p:sp>
        <p:nvSpPr>
          <p:cNvPr id="10" name="Rounded Rectangle 9"/>
          <p:cNvSpPr/>
          <p:nvPr/>
        </p:nvSpPr>
        <p:spPr>
          <a:xfrm>
            <a:off x="4352544"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3. Registry</a:t>
            </a:r>
          </a:p>
          <a:p>
            <a:pPr algn="ctr">
              <a:defRPr sz="900">
                <a:solidFill>
                  <a:srgbClr val="94A3B8"/>
                </a:solidFill>
                <a:latin typeface="Calibri"/>
              </a:defRPr>
            </a:pPr>
            <a:r>
              <a:t>GHCR (Git SHA Tag)</a:t>
            </a:r>
          </a:p>
        </p:txBody>
      </p:sp>
      <p:sp>
        <p:nvSpPr>
          <p:cNvPr id="11" name="Rounded Rectangle 10"/>
          <p:cNvSpPr/>
          <p:nvPr/>
        </p:nvSpPr>
        <p:spPr>
          <a:xfrm>
            <a:off x="6163056"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4. GitOps</a:t>
            </a:r>
          </a:p>
          <a:p>
            <a:pPr algn="ctr">
              <a:defRPr sz="900">
                <a:solidFill>
                  <a:srgbClr val="94A3B8"/>
                </a:solidFill>
                <a:latin typeface="Calibri"/>
              </a:defRPr>
            </a:pPr>
            <a:r>
              <a:t>ArgoCD Auto-Sync</a:t>
            </a:r>
          </a:p>
        </p:txBody>
      </p:sp>
      <p:sp>
        <p:nvSpPr>
          <p:cNvPr id="12" name="Rounded Rectangle 11"/>
          <p:cNvSpPr/>
          <p:nvPr/>
        </p:nvSpPr>
        <p:spPr>
          <a:xfrm>
            <a:off x="7973568"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5. AWS EKS</a:t>
            </a:r>
          </a:p>
          <a:p>
            <a:pPr algn="ctr">
              <a:defRPr sz="900">
                <a:solidFill>
                  <a:srgbClr val="94A3B8"/>
                </a:solidFill>
                <a:latin typeface="Calibri"/>
              </a:defRPr>
            </a:pPr>
            <a:r>
              <a:t>VPC + Ingress + HPA</a:t>
            </a:r>
          </a:p>
        </p:txBody>
      </p:sp>
      <p:sp>
        <p:nvSpPr>
          <p:cNvPr id="13" name="Rounded Rectangle 12"/>
          <p:cNvSpPr/>
          <p:nvPr/>
        </p:nvSpPr>
        <p:spPr>
          <a:xfrm>
            <a:off x="9784080"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6. Monitoring</a:t>
            </a:r>
          </a:p>
          <a:p>
            <a:pPr algn="ctr">
              <a:defRPr sz="900">
                <a:solidFill>
                  <a:srgbClr val="94A3B8"/>
                </a:solidFill>
                <a:latin typeface="Calibri"/>
              </a:defRPr>
            </a:pPr>
            <a:r>
              <a:t>Prometheus &amp; Grafana</a:t>
            </a:r>
          </a:p>
        </p:txBody>
      </p:sp>
      <p:sp>
        <p:nvSpPr>
          <p:cNvPr id="14" name="Rounded Rectangle 13"/>
          <p:cNvSpPr/>
          <p:nvPr/>
        </p:nvSpPr>
        <p:spPr>
          <a:xfrm>
            <a:off x="731520" y="2834640"/>
            <a:ext cx="5250027" cy="347472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971800"/>
            <a:ext cx="4975707" cy="411480"/>
          </a:xfrm>
          <a:prstGeom prst="rect">
            <a:avLst/>
          </a:prstGeom>
          <a:noFill/>
        </p:spPr>
        <p:txBody>
          <a:bodyPr wrap="square">
            <a:spAutoFit/>
          </a:bodyPr>
          <a:lstStyle/>
          <a:p>
            <a:pPr>
              <a:defRPr sz="1400" b="1">
                <a:solidFill>
                  <a:srgbClr val="F59E0B"/>
                </a:solidFill>
                <a:latin typeface="Arial"/>
              </a:defRPr>
            </a:pPr>
            <a:r>
              <a:t>Pipeline Flow (DevSecOps Quality Gates)</a:t>
            </a:r>
          </a:p>
        </p:txBody>
      </p:sp>
      <p:sp>
        <p:nvSpPr>
          <p:cNvPr id="16" name="TextBox 15"/>
          <p:cNvSpPr txBox="1"/>
          <p:nvPr/>
        </p:nvSpPr>
        <p:spPr>
          <a:xfrm>
            <a:off x="868680" y="3429000"/>
            <a:ext cx="4975707" cy="2743200"/>
          </a:xfrm>
          <a:prstGeom prst="rect">
            <a:avLst/>
          </a:prstGeom>
          <a:noFill/>
        </p:spPr>
        <p:txBody>
          <a:bodyPr wrap="square">
            <a:spAutoFit/>
          </a:bodyPr>
          <a:lstStyle/>
          <a:p>
            <a:pPr>
              <a:spcAft>
                <a:spcPts val="800"/>
              </a:spcAft>
              <a:defRPr sz="1200">
                <a:solidFill>
                  <a:srgbClr val="F8FAFC"/>
                </a:solidFill>
                <a:latin typeface="Calibri"/>
              </a:defRPr>
            </a:pPr>
            <a:r>
              <a:t>• Pre-commit verification enforces Ruff formatting and Gitleaks secret scanning.</a:t>
            </a:r>
          </a:p>
          <a:p>
            <a:pPr>
              <a:spcAft>
                <a:spcPts val="800"/>
              </a:spcAft>
              <a:defRPr sz="1200">
                <a:solidFill>
                  <a:srgbClr val="F8FAFC"/>
                </a:solidFill>
                <a:latin typeface="Calibri"/>
              </a:defRPr>
            </a:pPr>
            <a:r>
              <a:t>• GitHub Actions executes automated gates: linting, pytest coverage (&gt;=80%), multi-stage builds.</a:t>
            </a:r>
          </a:p>
          <a:p>
            <a:pPr>
              <a:spcAft>
                <a:spcPts val="800"/>
              </a:spcAft>
              <a:defRPr sz="1200">
                <a:solidFill>
                  <a:srgbClr val="F8FAFC"/>
                </a:solidFill>
                <a:latin typeface="Calibri"/>
              </a:defRPr>
            </a:pPr>
            <a:r>
              <a:t>• Trivy blocks image publishing if any HIGH or CRITICAL CVEs are detected.</a:t>
            </a:r>
          </a:p>
          <a:p>
            <a:pPr>
              <a:spcAft>
                <a:spcPts val="800"/>
              </a:spcAft>
              <a:defRPr sz="1200">
                <a:solidFill>
                  <a:srgbClr val="F8FAFC"/>
                </a:solidFill>
                <a:latin typeface="Calibri"/>
              </a:defRPr>
            </a:pPr>
            <a:r>
              <a:t>• Approved container images are tagged with immutable Git commit SHAs—never :latest.</a:t>
            </a:r>
          </a:p>
        </p:txBody>
      </p:sp>
      <p:sp>
        <p:nvSpPr>
          <p:cNvPr id="17" name="Rounded Rectangle 16"/>
          <p:cNvSpPr/>
          <p:nvPr/>
        </p:nvSpPr>
        <p:spPr>
          <a:xfrm>
            <a:off x="6210147" y="2834640"/>
            <a:ext cx="5250027" cy="347472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7307" y="2971800"/>
            <a:ext cx="4975707" cy="411480"/>
          </a:xfrm>
          <a:prstGeom prst="rect">
            <a:avLst/>
          </a:prstGeom>
          <a:noFill/>
        </p:spPr>
        <p:txBody>
          <a:bodyPr wrap="square">
            <a:spAutoFit/>
          </a:bodyPr>
          <a:lstStyle/>
          <a:p>
            <a:pPr>
              <a:defRPr sz="1400" b="1">
                <a:solidFill>
                  <a:srgbClr val="10B981"/>
                </a:solidFill>
                <a:latin typeface="Arial"/>
              </a:defRPr>
            </a:pPr>
            <a:r>
              <a:t>Cloud Runtime (AWS EKS &amp; GitOps Delivery)</a:t>
            </a:r>
          </a:p>
        </p:txBody>
      </p:sp>
      <p:sp>
        <p:nvSpPr>
          <p:cNvPr id="19" name="TextBox 18"/>
          <p:cNvSpPr txBox="1"/>
          <p:nvPr/>
        </p:nvSpPr>
        <p:spPr>
          <a:xfrm>
            <a:off x="6347307" y="3429000"/>
            <a:ext cx="4975707" cy="2743200"/>
          </a:xfrm>
          <a:prstGeom prst="rect">
            <a:avLst/>
          </a:prstGeom>
          <a:noFill/>
        </p:spPr>
        <p:txBody>
          <a:bodyPr wrap="square">
            <a:spAutoFit/>
          </a:bodyPr>
          <a:lstStyle/>
          <a:p>
            <a:pPr>
              <a:spcAft>
                <a:spcPts val="800"/>
              </a:spcAft>
              <a:defRPr sz="1200">
                <a:solidFill>
                  <a:srgbClr val="F8FAFC"/>
                </a:solidFill>
                <a:latin typeface="Calibri"/>
              </a:defRPr>
            </a:pPr>
            <a:r>
              <a:t>• ArgoCD polls the repository, detects image updates, and auto-syncs manifests to the cluster.</a:t>
            </a:r>
          </a:p>
          <a:p>
            <a:pPr>
              <a:spcAft>
                <a:spcPts val="800"/>
              </a:spcAft>
              <a:defRPr sz="1200">
                <a:solidFill>
                  <a:srgbClr val="F8FAFC"/>
                </a:solidFill>
                <a:latin typeface="Calibri"/>
              </a:defRPr>
            </a:pPr>
            <a:r>
              <a:t>• Traffic flows: AWS ALB / Ingress Controller -&gt; Frontend (:8080) -&gt; Backend (:8000) -&gt; PostgreSQL (:5432).</a:t>
            </a:r>
          </a:p>
          <a:p>
            <a:pPr>
              <a:spcAft>
                <a:spcPts val="800"/>
              </a:spcAft>
              <a:defRPr sz="1200">
                <a:solidFill>
                  <a:srgbClr val="F8FAFC"/>
                </a:solidFill>
                <a:latin typeface="Calibri"/>
              </a:defRPr>
            </a:pPr>
            <a:r>
              <a:t>• Horizontal Pod Autoscaler (HPA) dynamically scales backend pods between 2 and 6 replicas based on CPU load.</a:t>
            </a:r>
          </a:p>
          <a:p>
            <a:pPr>
              <a:spcAft>
                <a:spcPts val="800"/>
              </a:spcAft>
              <a:defRPr sz="1200">
                <a:solidFill>
                  <a:srgbClr val="F8FAFC"/>
                </a:solidFill>
                <a:latin typeface="Calibri"/>
              </a:defRPr>
            </a:pPr>
            <a:r>
              <a:t>• Prometheus scrapes application metrics every 15s via dedicated ServiceMonitor.</a:t>
            </a:r>
          </a:p>
        </p:txBody>
      </p:sp>
      <p:sp>
        <p:nvSpPr>
          <p:cNvPr id="20" name="TextBox 19"/>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 GitOps, Automated Verification &amp; Observability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MODULE CHECKPOINT • CONTINUOUS DELIVERY PIPELINE</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4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CI/CD Pipeline: GitHub Actions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Automated Quality Gates, Vulnerability Blocking, and Immutable Tagging</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Gate 1: Code Quality &amp; Static Analysis</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Ruff: Ultra-fast linting and code formatting checks across all backend Python modules.</a:t>
            </a:r>
          </a:p>
          <a:p>
            <a:pPr>
              <a:spcAft>
                <a:spcPts val="800"/>
              </a:spcAft>
              <a:defRPr sz="1200">
                <a:solidFill>
                  <a:srgbClr val="F8FAFC"/>
                </a:solidFill>
                <a:latin typeface="Calibri"/>
              </a:defRPr>
            </a:pPr>
            <a:r>
              <a:t>• Mypy: Static type checking ensuring Pydantic and FastAPI schema integrity.</a:t>
            </a:r>
          </a:p>
          <a:p>
            <a:pPr>
              <a:spcAft>
                <a:spcPts val="800"/>
              </a:spcAft>
              <a:defRPr sz="1200">
                <a:solidFill>
                  <a:srgbClr val="F8FAFC"/>
                </a:solidFill>
                <a:latin typeface="Calibri"/>
              </a:defRPr>
            </a:pPr>
            <a:r>
              <a:t>• ESLint: Static code analysis ensuring frontend React components follow strict standards.</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Gate 2: Automated Testing &amp; Coverage Gate</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Pytest: Executes 31 unit and integration tests against in-memory SQLite database.</a:t>
            </a:r>
          </a:p>
          <a:p>
            <a:pPr>
              <a:spcAft>
                <a:spcPts val="800"/>
              </a:spcAft>
              <a:defRPr sz="1200">
                <a:solidFill>
                  <a:srgbClr val="F8FAFC"/>
                </a:solidFill>
                <a:latin typeface="Calibri"/>
              </a:defRPr>
            </a:pPr>
            <a:r>
              <a:t>• Coverage Gate: Pytest-cov enforces a hard 80% coverage threshold (currently achieving 91%).</a:t>
            </a:r>
          </a:p>
          <a:p>
            <a:pPr>
              <a:spcAft>
                <a:spcPts val="800"/>
              </a:spcAft>
              <a:defRPr sz="1200">
                <a:solidFill>
                  <a:srgbClr val="F8FAFC"/>
                </a:solidFill>
                <a:latin typeface="Calibri"/>
              </a:defRPr>
            </a:pPr>
            <a:r>
              <a:t>• Pipeline Failure: Any failing test or coverage drop below 80% instantly terminates the workflow.</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Gate 3: Hardened Build &amp; Trivy Vulnerability Scan</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Docker Buildx: Multi-stage builds compiling frontend assets and backend dependencies.</a:t>
            </a:r>
          </a:p>
          <a:p>
            <a:pPr>
              <a:spcAft>
                <a:spcPts val="800"/>
              </a:spcAft>
              <a:defRPr sz="1200">
                <a:solidFill>
                  <a:srgbClr val="F8FAFC"/>
                </a:solidFill>
                <a:latin typeface="Calibri"/>
              </a:defRPr>
            </a:pPr>
            <a:r>
              <a:t>• Trivy Scanner: Scans root filesystem and built images with exit-code: 1 on HIGH/CRITICAL CVEs.</a:t>
            </a:r>
          </a:p>
          <a:p>
            <a:pPr>
              <a:spcAft>
                <a:spcPts val="800"/>
              </a:spcAft>
              <a:defRPr sz="1200">
                <a:solidFill>
                  <a:srgbClr val="F8FAFC"/>
                </a:solidFill>
                <a:latin typeface="Calibri"/>
              </a:defRPr>
            </a:pPr>
            <a:r>
              <a:t>• GHCR Publishing: Immutable tags using github.sha (e.g. ghcr.io/user/podiumhq-backend:f990516).</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 GitOps, Automated Verification &amp; Observability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MODULE CHECKPOINT • TERRAFORM IAC SPECIFICATION</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5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Infrastructure as Code: Terraform on AWS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Modular, Reproducible Cloud Infrastructure Provisioning across 3 AZs</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VPC &amp; Network Architecture (vpc.tf)</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Region: AWS ap-south-1 (Mumbai) across 3 Availability Zones for fault tolerance.</a:t>
            </a:r>
          </a:p>
          <a:p>
            <a:pPr>
              <a:spcAft>
                <a:spcPts val="800"/>
              </a:spcAft>
              <a:defRPr sz="1200">
                <a:solidFill>
                  <a:srgbClr val="F8FAFC"/>
                </a:solidFill>
                <a:latin typeface="Calibri"/>
              </a:defRPr>
            </a:pPr>
            <a:r>
              <a:t>• Subnet Layout: 3 public subnets (for Ingress/ALBs) and 3 private subnets (for EKS worker nodes).</a:t>
            </a:r>
          </a:p>
          <a:p>
            <a:pPr>
              <a:spcAft>
                <a:spcPts val="800"/>
              </a:spcAft>
              <a:defRPr sz="1200">
                <a:solidFill>
                  <a:srgbClr val="F8FAFC"/>
                </a:solidFill>
                <a:latin typeface="Calibri"/>
              </a:defRPr>
            </a:pPr>
            <a:r>
              <a:t>• Egress: Dedicated NAT Gateway in public subnet routing private outbound internet traffic.</a:t>
            </a:r>
          </a:p>
          <a:p>
            <a:pPr>
              <a:spcAft>
                <a:spcPts val="800"/>
              </a:spcAft>
              <a:defRPr sz="1200">
                <a:solidFill>
                  <a:srgbClr val="F8FAFC"/>
                </a:solidFill>
                <a:latin typeface="Calibri"/>
              </a:defRPr>
            </a:pPr>
            <a:r>
              <a:t>• Kubernetes Tags: Strict kubernetes.io/role/elb and internal-elb tags for AWS Load Balancer Controller.</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EKS Cluster &amp; Node Groups (eks.tf)</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EKS Control Plane: Managed Kubernetes v1.30 control plane with private &amp; public API endpoints.</a:t>
            </a:r>
          </a:p>
          <a:p>
            <a:pPr>
              <a:spcAft>
                <a:spcPts val="800"/>
              </a:spcAft>
              <a:defRPr sz="1200">
                <a:solidFill>
                  <a:srgbClr val="F8FAFC"/>
                </a:solidFill>
                <a:latin typeface="Calibri"/>
              </a:defRPr>
            </a:pPr>
            <a:r>
              <a:t>• Managed Node Group: 2 to 4 t3.medium EC2 instances distributed across private subnets.</a:t>
            </a:r>
          </a:p>
          <a:p>
            <a:pPr>
              <a:spcAft>
                <a:spcPts val="800"/>
              </a:spcAft>
              <a:defRPr sz="1200">
                <a:solidFill>
                  <a:srgbClr val="F8FAFC"/>
                </a:solidFill>
                <a:latin typeface="Calibri"/>
              </a:defRPr>
            </a:pPr>
            <a:r>
              <a:t>• IAM Roles: Least-privilege roles for EKS Cluster, CNI, and ContainerRegistryReadOnly.</a:t>
            </a:r>
          </a:p>
          <a:p>
            <a:pPr>
              <a:spcAft>
                <a:spcPts val="800"/>
              </a:spcAft>
              <a:defRPr sz="1200">
                <a:solidFill>
                  <a:srgbClr val="F8FAFC"/>
                </a:solidFill>
                <a:latin typeface="Calibri"/>
              </a:defRPr>
            </a:pPr>
            <a:r>
              <a:t>• Add-ons (addons.tf): AWS EBS CSI driver (for gp3 volumes) and Kubernetes Metrics Server (for HPA).</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Cost Safety &amp; Teardown Runbook</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Reproducibility: Configured via terraform.tfvars.example with parameterized variables.</a:t>
            </a:r>
          </a:p>
          <a:p>
            <a:pPr>
              <a:spcAft>
                <a:spcPts val="800"/>
              </a:spcAft>
              <a:defRPr sz="1200">
                <a:solidFill>
                  <a:srgbClr val="F8FAFC"/>
                </a:solidFill>
                <a:latin typeface="Calibri"/>
              </a:defRPr>
            </a:pPr>
            <a:r>
              <a:t>• Automated Teardown: Documented runbook in terraform/README.md for clean resource destruction.</a:t>
            </a:r>
          </a:p>
          <a:p>
            <a:pPr>
              <a:spcAft>
                <a:spcPts val="800"/>
              </a:spcAft>
              <a:defRPr sz="1200">
                <a:solidFill>
                  <a:srgbClr val="F8FAFC"/>
                </a:solidFill>
                <a:latin typeface="Calibri"/>
              </a:defRPr>
            </a:pPr>
            <a:r>
              <a:t>• Zero-Leak Guarantee: PVCs and Ingresses uninstalled prior to terraform destroy to prevent dangling ALBs.</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 GitOps, Automated Verification &amp; Observability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MODULE CHECKPOINT • KUBERNETES &amp; HELM DEPLOYMENT</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6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Kubernetes Packaging: Helm &amp; Workloads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Declarative Packaging, Non-Root Workloads, and Migration Job Hooks</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Workload Declarations</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Backend Deployment: 2 replicas, rolling updates (maxSurge: 1, maxUnavailable: 0), liveness and readiness probes.</a:t>
            </a:r>
          </a:p>
          <a:p>
            <a:pPr>
              <a:spcAft>
                <a:spcPts val="800"/>
              </a:spcAft>
              <a:defRPr sz="1200">
                <a:solidFill>
                  <a:srgbClr val="F8FAFC"/>
                </a:solidFill>
                <a:latin typeface="Calibri"/>
              </a:defRPr>
            </a:pPr>
            <a:r>
              <a:t>• Frontend Deployment: 2 replicas, unprivileged Nginx reverse-proxying API traffic to backend.</a:t>
            </a:r>
          </a:p>
          <a:p>
            <a:pPr>
              <a:spcAft>
                <a:spcPts val="800"/>
              </a:spcAft>
              <a:defRPr sz="1200">
                <a:solidFill>
                  <a:srgbClr val="F8FAFC"/>
                </a:solidFill>
                <a:latin typeface="Calibri"/>
              </a:defRPr>
            </a:pPr>
            <a:r>
              <a:t>• PostgreSQL StatefulSet: 1 replica with gp3 StorageClass PersistentVolumeClaim (10Gi).</a:t>
            </a:r>
          </a:p>
          <a:p>
            <a:pPr>
              <a:spcAft>
                <a:spcPts val="800"/>
              </a:spcAft>
              <a:defRPr sz="1200">
                <a:solidFill>
                  <a:srgbClr val="F8FAFC"/>
                </a:solidFill>
                <a:latin typeface="Calibri"/>
              </a:defRPr>
            </a:pPr>
            <a:r>
              <a:t>• PodDisruptionBudget (PDB): Guarantees at least 1 backend pod remains available during node maintenance.</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SecurityContext &amp; Hardening</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Backend Pods: runAsNonRoot: true, runAsUser: 10001, runAsGroup: 10001, drop ALL capabilities.</a:t>
            </a:r>
          </a:p>
          <a:p>
            <a:pPr>
              <a:spcAft>
                <a:spcPts val="800"/>
              </a:spcAft>
              <a:defRPr sz="1200">
                <a:solidFill>
                  <a:srgbClr val="F8FAFC"/>
                </a:solidFill>
                <a:latin typeface="Calibri"/>
              </a:defRPr>
            </a:pPr>
            <a:r>
              <a:t>• Frontend Pods: runAsNonRoot: true, runAsUser: 101, runAsGroup: 101, drop ALL capabilities.</a:t>
            </a:r>
          </a:p>
          <a:p>
            <a:pPr>
              <a:spcAft>
                <a:spcPts val="800"/>
              </a:spcAft>
              <a:defRPr sz="1200">
                <a:solidFill>
                  <a:srgbClr val="F8FAFC"/>
                </a:solidFill>
                <a:latin typeface="Calibri"/>
              </a:defRPr>
            </a:pPr>
            <a:r>
              <a:t>• Ingress Controller: Routes / to frontend and /api, /health, /ready, /metrics to backend service.</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Database Migration Hook (Race Prevention)</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Problem Solved: Multiple backend replicas starting simultaneously cause database migration lock races.</a:t>
            </a:r>
          </a:p>
          <a:p>
            <a:pPr>
              <a:spcAft>
                <a:spcPts val="800"/>
              </a:spcAft>
              <a:defRPr sz="1200">
                <a:solidFill>
                  <a:srgbClr val="F8FAFC"/>
                </a:solidFill>
                <a:latin typeface="Calibri"/>
              </a:defRPr>
            </a:pPr>
            <a:r>
              <a:t>• Helm Hook Job: migration-job.yaml runs 'alembic upgrade head' as a pre-install/pre-upgrade hook.</a:t>
            </a:r>
          </a:p>
          <a:p>
            <a:pPr>
              <a:spcAft>
                <a:spcPts val="800"/>
              </a:spcAft>
              <a:defRPr sz="1200">
                <a:solidFill>
                  <a:srgbClr val="F8FAFC"/>
                </a:solidFill>
                <a:latin typeface="Calibri"/>
              </a:defRPr>
            </a:pPr>
            <a:r>
              <a:t>• App pods start with RUN_MIGRATIONS=false only AFTER the migration Job reports success.</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 GitOps, Automated Verification &amp; Observability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MODULE CHECKPOINT • GITOPS CONTINUOUS DELIVERY</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7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GitOps with ArgoCD</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Continuous Reconciliation, Automated Syncing, and Self-Healing Drift Control</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ArgoCD Application Configuration</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Manifest: argocd/application.yaml targeting namespace podiumhq with project: default.</a:t>
            </a:r>
          </a:p>
          <a:p>
            <a:pPr>
              <a:spcAft>
                <a:spcPts val="800"/>
              </a:spcAft>
              <a:defRPr sz="1200">
                <a:solidFill>
                  <a:srgbClr val="F8FAFC"/>
                </a:solidFill>
                <a:latin typeface="Calibri"/>
              </a:defRPr>
            </a:pPr>
            <a:r>
              <a:t>• Source: Watches this Git repository (path: helm/podiumhq, targetRevision: HEAD).</a:t>
            </a:r>
          </a:p>
          <a:p>
            <a:pPr>
              <a:spcAft>
                <a:spcPts val="800"/>
              </a:spcAft>
              <a:defRPr sz="1200">
                <a:solidFill>
                  <a:srgbClr val="F8FAFC"/>
                </a:solidFill>
                <a:latin typeface="Calibri"/>
              </a:defRPr>
            </a:pPr>
            <a:r>
              <a:t>• Environment Values: Uses values-prod.yaml for production cluster deployment.</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Automated Sync &amp; Self-Healing</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Automated Sync: ArgoCD automatically detects new image tag commits and applies them without human intervention.</a:t>
            </a:r>
          </a:p>
          <a:p>
            <a:pPr>
              <a:spcAft>
                <a:spcPts val="800"/>
              </a:spcAft>
              <a:defRPr sz="1200">
                <a:solidFill>
                  <a:srgbClr val="F8FAFC"/>
                </a:solidFill>
                <a:latin typeface="Calibri"/>
              </a:defRPr>
            </a:pPr>
            <a:r>
              <a:t>• Self-Healing (selfHeal: true): If an engineer manually alters cluster state via kubectl, ArgoCD immediately reverts the drift.</a:t>
            </a:r>
          </a:p>
          <a:p>
            <a:pPr>
              <a:spcAft>
                <a:spcPts val="800"/>
              </a:spcAft>
              <a:defRPr sz="1200">
                <a:solidFill>
                  <a:srgbClr val="F8FAFC"/>
                </a:solidFill>
                <a:latin typeface="Calibri"/>
              </a:defRPr>
            </a:pPr>
            <a:r>
              <a:t>• Pruning (prune: true): Deletes orphaned cluster resources when removed from Helm templates.</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Live Drift Demonstration (Viva Check)</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Step 1: Manually scale backend deployment: 'kubectl scale deployment podiumhq-backend --replicas=5'.</a:t>
            </a:r>
          </a:p>
          <a:p>
            <a:pPr>
              <a:spcAft>
                <a:spcPts val="800"/>
              </a:spcAft>
              <a:defRPr sz="1200">
                <a:solidFill>
                  <a:srgbClr val="F8FAFC"/>
                </a:solidFill>
                <a:latin typeface="Calibri"/>
              </a:defRPr>
            </a:pPr>
            <a:r>
              <a:t>• Step 2: ArgoCD detects state drift and marks application OutOfSync.</a:t>
            </a:r>
          </a:p>
          <a:p>
            <a:pPr>
              <a:spcAft>
                <a:spcPts val="800"/>
              </a:spcAft>
              <a:defRPr sz="1200">
                <a:solidFill>
                  <a:srgbClr val="F8FAFC"/>
                </a:solidFill>
                <a:latin typeface="Calibri"/>
              </a:defRPr>
            </a:pPr>
            <a:r>
              <a:t>• Step 3: Within seconds, ArgoCD self-heals the cluster back to the Git source of truth (2 replicas).</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 GitOps, Automated Verification &amp; Observability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MODULE CHECKPOINT • OBSERVABILITY &amp; MONITORING</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8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Observability: Prometheus &amp; Grafana</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Full-Stack System Metrics, Custom Domain Telemetry, and Alerting Rules</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Exposed Telemetry (/metrics)</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Standard Metrics: HTTP request counts, response status codes (2xx/4xx/5xx), and latency histograms.</a:t>
            </a:r>
          </a:p>
          <a:p>
            <a:pPr>
              <a:spcAft>
                <a:spcPts val="800"/>
              </a:spcAft>
              <a:defRPr sz="1200">
                <a:solidFill>
                  <a:srgbClr val="F8FAFC"/>
                </a:solidFill>
                <a:latin typeface="Calibri"/>
              </a:defRPr>
            </a:pPr>
            <a:r>
              <a:t>• Runtime Telemetry: Python garbage collection, memory usage, CPU seconds, and active file descriptors.</a:t>
            </a:r>
          </a:p>
          <a:p>
            <a:pPr>
              <a:spcAft>
                <a:spcPts val="800"/>
              </a:spcAft>
              <a:defRPr sz="1200">
                <a:solidFill>
                  <a:srgbClr val="F8FAFC"/>
                </a:solidFill>
                <a:latin typeface="Calibri"/>
              </a:defRPr>
            </a:pPr>
            <a:r>
              <a:t>• Instrumentation: Powered by prometheus-client and prometheus-fastapi-instrumentator.</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Custom Domain Business Metrics</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podiumhq_scores_submitted_total: Counter tracking total judge scores submitted across rounds.</a:t>
            </a:r>
          </a:p>
          <a:p>
            <a:pPr>
              <a:spcAft>
                <a:spcPts val="800"/>
              </a:spcAft>
              <a:defRPr sz="1200">
                <a:solidFill>
                  <a:srgbClr val="F8FAFC"/>
                </a:solidFill>
                <a:latin typeface="Calibri"/>
              </a:defRPr>
            </a:pPr>
            <a:r>
              <a:t>• podiumhq_teams_by_status: Gauge tracking team counts categorized by lifecycle status (ACTIVE, EVALUATED).</a:t>
            </a:r>
          </a:p>
          <a:p>
            <a:pPr>
              <a:spcAft>
                <a:spcPts val="800"/>
              </a:spcAft>
              <a:defRPr sz="1200">
                <a:solidFill>
                  <a:srgbClr val="F8FAFC"/>
                </a:solidFill>
                <a:latin typeface="Calibri"/>
              </a:defRPr>
            </a:pPr>
            <a:r>
              <a:t>• podiumhq_leaderboard_requests_total: Counter tracking traffic to the live standings endpoint.</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Grafana Dashboard &amp; PrometheusRules</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Grafana JSON (monitoring/grafana-dashboard.json): 5+ real-time panels tracking RPS, p95 latency, errors, and domain stats.</a:t>
            </a:r>
          </a:p>
          <a:p>
            <a:pPr>
              <a:spcAft>
                <a:spcPts val="800"/>
              </a:spcAft>
              <a:defRPr sz="1200">
                <a:solidFill>
                  <a:srgbClr val="F8FAFC"/>
                </a:solidFill>
                <a:latin typeface="Calibri"/>
              </a:defRPr>
            </a:pPr>
            <a:r>
              <a:t>• PrometheusRule (monitoring/alerts.yaml): Automated alerts for High Error Rate (&gt;1% 5xx) and Backend Target Down.</a:t>
            </a:r>
          </a:p>
          <a:p>
            <a:pPr>
              <a:spcAft>
                <a:spcPts val="800"/>
              </a:spcAft>
              <a:defRPr sz="1200">
                <a:solidFill>
                  <a:srgbClr val="F8FAFC"/>
                </a:solidFill>
                <a:latin typeface="Calibri"/>
              </a:defRPr>
            </a:pPr>
            <a:r>
              <a:t>• ServiceMonitor: Scrapes backend service every 15s via Prometheus Operator.</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 GitOps, Automated Verification &amp; Observability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MODULE CHECKPOINT • VERIFICATION &amp; ENGINEERING CHALLENGES</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9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Testing, Security, &amp; Real Challenges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91% Test Coverage, Container Non-Root Verification, and Practical Bug Fixes</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10B981"/>
                </a:solidFill>
                <a:latin typeface="Arial"/>
              </a:defRPr>
            </a:pPr>
            <a:r>
              <a:t>Automated Testing Verification</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Pytest Results: 31 passed in 1.32s with 90.99% overall code coverage (target: &gt;=80%).</a:t>
            </a:r>
          </a:p>
          <a:p>
            <a:pPr>
              <a:spcAft>
                <a:spcPts val="800"/>
              </a:spcAft>
              <a:defRPr sz="1200">
                <a:solidFill>
                  <a:srgbClr val="F8FAFC"/>
                </a:solidFill>
                <a:latin typeface="Calibri"/>
              </a:defRPr>
            </a:pPr>
            <a:r>
              <a:t>• Test Isolation: SQLite with StaticPool ensures zero interference between test runs.</a:t>
            </a:r>
          </a:p>
          <a:p>
            <a:pPr>
              <a:spcAft>
                <a:spcPts val="800"/>
              </a:spcAft>
              <a:defRPr sz="1200">
                <a:solidFill>
                  <a:srgbClr val="F8FAFC"/>
                </a:solidFill>
                <a:latin typeface="Calibri"/>
              </a:defRPr>
            </a:pPr>
            <a:r>
              <a:t>• Business Logic Verified: Tie-breaking, duplicate score rejection, and round lifecycle locks.</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38BDF8"/>
                </a:solidFill>
                <a:latin typeface="Arial"/>
              </a:defRPr>
            </a:pPr>
            <a:r>
              <a:t>Container Security Verification</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Backend: Verified non-root execution via 'docker compose exec backend id' -&gt; uid=10001(appuser).</a:t>
            </a:r>
          </a:p>
          <a:p>
            <a:pPr>
              <a:spcAft>
                <a:spcPts val="800"/>
              </a:spcAft>
              <a:defRPr sz="1200">
                <a:solidFill>
                  <a:srgbClr val="F8FAFC"/>
                </a:solidFill>
                <a:latin typeface="Calibri"/>
              </a:defRPr>
            </a:pPr>
            <a:r>
              <a:t>• Frontend: Verified unprivileged execution via 'docker compose exec frontend id' -&gt; uid=101(nginx).</a:t>
            </a:r>
          </a:p>
          <a:p>
            <a:pPr>
              <a:spcAft>
                <a:spcPts val="800"/>
              </a:spcAft>
              <a:defRPr sz="1200">
                <a:solidFill>
                  <a:srgbClr val="F8FAFC"/>
                </a:solidFill>
                <a:latin typeface="Calibri"/>
              </a:defRPr>
            </a:pPr>
            <a:r>
              <a:t>• Secret Scanning: Gitleaks scan confirmed zero committed credentials or API keys in Git history.</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Real Implementation Challenges Solved</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Challenge 1: In-container SQLite coverage database was blocked because /app was owned by root. Fixed by chowning /app to appuser.</a:t>
            </a:r>
          </a:p>
          <a:p>
            <a:pPr>
              <a:spcAft>
                <a:spcPts val="800"/>
              </a:spcAft>
              <a:defRPr sz="1200">
                <a:solidFill>
                  <a:srgbClr val="F8FAFC"/>
                </a:solidFill>
                <a:latin typeface="Calibri"/>
              </a:defRPr>
            </a:pPr>
            <a:r>
              <a:t>• Challenge 2: Frontend healthcheck failed with connection refused because BusyBox wget resolved localhost to IPv6 ::1. Fixed by adding listen [::]:8080.</a:t>
            </a:r>
          </a:p>
          <a:p>
            <a:pPr>
              <a:spcAft>
                <a:spcPts val="800"/>
              </a:spcAft>
              <a:defRPr sz="1200">
                <a:solidFill>
                  <a:srgbClr val="F8FAFC"/>
                </a:solidFill>
                <a:latin typeface="Calibri"/>
              </a:defRPr>
            </a:pPr>
            <a:r>
              <a:t>• Challenge 3: Test dependencies were excluded by .dockerignore. Fixed by selectively including tests for in-container validation.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 GitOps, Automated Verification &amp; Observability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MODULE CHECKPOINT • CONCLUSION &amp; ROADMAP</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10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Key Learnings &amp; Conclusion</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100-Point Rubric Fulfillment, Production Takeaways, and Future Roadmap</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10B981"/>
                </a:solidFill>
                <a:latin typeface="Arial"/>
              </a:defRPr>
            </a:pPr>
            <a:r>
              <a:t>Rubric Self-Audit (RUBRIC_CHECK.md)</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100% compliance across all 10 modules (M1 Application to M10 Presentation).</a:t>
            </a:r>
          </a:p>
          <a:p>
            <a:pPr>
              <a:spcAft>
                <a:spcPts val="800"/>
              </a:spcAft>
              <a:defRPr sz="1200">
                <a:solidFill>
                  <a:srgbClr val="F8FAFC"/>
                </a:solidFill>
                <a:latin typeface="Calibri"/>
              </a:defRPr>
            </a:pPr>
            <a:r>
              <a:t>• Locally runnable components (Docker Compose, Pytest 91%, Non-Root, Probes) are 100% verified green.</a:t>
            </a:r>
          </a:p>
          <a:p>
            <a:pPr>
              <a:spcAft>
                <a:spcPts val="800"/>
              </a:spcAft>
              <a:defRPr sz="1200">
                <a:solidFill>
                  <a:srgbClr val="F8FAFC"/>
                </a:solidFill>
                <a:latin typeface="Calibri"/>
              </a:defRPr>
            </a:pPr>
            <a:r>
              <a:t>• Cloud-only components (AWS EKS apply, live ArgoCD) are fully written, validated, and documented.</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38BDF8"/>
                </a:solidFill>
                <a:latin typeface="Arial"/>
              </a:defRPr>
            </a:pPr>
            <a:r>
              <a:t>Key Engineering Lessons</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Pre-upgrade Helm hooks are essential to avoid database schema race conditions across replicated pods.</a:t>
            </a:r>
          </a:p>
          <a:p>
            <a:pPr>
              <a:spcAft>
                <a:spcPts val="800"/>
              </a:spcAft>
              <a:defRPr sz="1200">
                <a:solidFill>
                  <a:srgbClr val="F8FAFC"/>
                </a:solidFill>
                <a:latin typeface="Calibri"/>
              </a:defRPr>
            </a:pPr>
            <a:r>
              <a:t>• Dual-stack IPv4/IPv6 awareness is critical when containerizing unprivileged Nginx on modern Alpine Linux.</a:t>
            </a:r>
          </a:p>
          <a:p>
            <a:pPr>
              <a:spcAft>
                <a:spcPts val="800"/>
              </a:spcAft>
              <a:defRPr sz="1200">
                <a:solidFill>
                  <a:srgbClr val="F8FAFC"/>
                </a:solidFill>
                <a:latin typeface="Calibri"/>
              </a:defRPr>
            </a:pPr>
            <a:r>
              <a:t>• Immutable image tagging by Git commit SHA ensures reliable GitOps rollback without caching ambiguities.</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Future Production Enhancements</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Transition in-cluster PostgreSQL to Amazon Aurora Multi-AZ with automated automated failover.</a:t>
            </a:r>
          </a:p>
          <a:p>
            <a:pPr>
              <a:spcAft>
                <a:spcPts val="800"/>
              </a:spcAft>
              <a:defRPr sz="1200">
                <a:solidFill>
                  <a:srgbClr val="F8FAFC"/>
                </a:solidFill>
                <a:latin typeface="Calibri"/>
              </a:defRPr>
            </a:pPr>
            <a:r>
              <a:t>• Implement OpenTelemetry distributed tracing with AWS X-Ray for end-to-end request tracing.</a:t>
            </a:r>
          </a:p>
          <a:p>
            <a:pPr>
              <a:spcAft>
                <a:spcPts val="800"/>
              </a:spcAft>
              <a:defRPr sz="1200">
                <a:solidFill>
                  <a:srgbClr val="F8FAFC"/>
                </a:solidFill>
                <a:latin typeface="Calibri"/>
              </a:defRPr>
            </a:pPr>
            <a:r>
              <a:t>• Deploy Istio Service Mesh with mTLS and fine-grained authorization policies across microservices.</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 GitOps, Automated Verification &amp; Observability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