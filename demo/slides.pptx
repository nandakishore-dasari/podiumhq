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Hi everyone. My name is D.N.Nanda kishore (Roll Number: 10024, BATCH: A), and today I am presenting my DevSecOps capstone project, PodiumHQ. During college hackathons, I noticed organizers always struggle with messy spreadsheets and calculating weighted scores under tight deadlines. I built PodiumHQ to solve this: it is a web platform where judges submit scores against specific criteria and the leaderboard updates live. More importantly, I used this project to learn and implement a complete DevSecOps pipeline, including automated testing, non-root containers, CI/CD scanning, Terraform, Kubernetes, and monitoring.</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 Slide 2, here is how the application is built. For the frontend, I chose React 18 with Vite and Tailwind CSS so the scoring page and leaderboard update smoothly without refreshing. For the backend, I used FastAPI with Python 3.12 because it is asynchronous, validates incoming requests with Pydantic schemas, and automatically generates interactive API documentation at /docs. For storage, I used PostgreSQL 16 with SQLAlchemy and Alembic migrations to keep our data consistent. Both backend and frontend containers run as non-root users for basic security hygiene.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diagram on Slide 3 shows the overall architecture. When I push code to GitHub, GitHub Actions runs our automated pipeline: linting, running 31 pytest tests, building the Docker containers, and scanning them with Trivy. If everything passes, the image is tagged with the Git commit hash and pushed to GitHub Container Registry. From there, ArgoCD pulls the update into Kubernetes. An Ingress controller sends user traffic to our frontend, API calls to our backend pods, and Prometheus continuously monitors the whole system.</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4 covers our CI/CD pipeline, configured in .github/workflows/ci-cd.yml. I divided it into three clear gates. First, Ruff and Mypy check code formatting and type safety. Second, Pytest runs all 31 tests and checks code coverage. We enforce an 80% threshold, and our tests currently hit 91%. If any test fails or coverage drops, the pipeline stops immediately. Third, we build the Docker images and run Trivy to scan for security vulnerabilities. Only clean images get tagged with the Git commit SHA and pushed to the container registry.</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 Slide 5, we look at our cloud infrastructure defined in the terraform/ directory. Instead of clicking around the AWS console, I wrote Terraform code to create an AWS VPC across 3 Availability Zones, with private subnets for security and public subnets for ingress. The EKS configuration provisions a Kubernetes 1.30 cluster with 2 to 4 worker nodes. I also added two essential EKS add-ons: the EBS CSI driver for database storage, and the Metrics Server for pod autoscaling. Because AWS EKS costs real money every hour, the code is fully validated, and I included a teardown runbook to destroy resources safely.</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 Slide 6, we look at how the application is packaged for Kubernetes using Helm. Both backend and frontend are configured with 2 replicas each, protected by a PodDisruptionBudget and autoscaled by HPA. In Kubernetes, security is critical, so our pod manifests strictly enforce non-root execution and drop all Linux capabilities. One practical problem I solved was database migration race conditions: if two backend pods start at once, they clash over database schema locks. I resolved this by turning migrations into a Helm pre-install and pre-upgrade Job hook that finishes completely before any application pods boot.</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7 introduces GitOps using ArgoCD. Instead of manually deploying code with kubectl commands from a terminal, GitOps makes our Git repository the single source of truth. ArgoCD runs in the cluster and monitors our Helm chart. When our CI pipeline updates an image tag, ArgoCD automatically synchronizes the cluster. It also has self-healing enabled: if someone manually modifies a pod count or setting in the cluster, ArgoCD detects the drift and immediately restores the cluster back to what is defined in Git.</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 Slide 8, we look at observability. Under /metrics, our backend exposes standard Prometheus telemetry, including HTTP request rates and p95 latency histograms. To make monitoring genuinely useful for this hackathon platform, I also implemented three custom domain metrics: scores submitted, team status counts, and leaderboard views. We packaged a pre-built Grafana dashboard in the monitoring/ directory to visualize these numbers, along with Prometheus alert rules that warn us if error rates spike or if a service goes down.</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9 highlights our testing and some real debugging problems I ran into and solved. Our test suite has 31 automated tests with 91% code coverage, and our containers were verified as non-root users. During development, I hit two interesting bugs. First, pytest kept crashing inside the container because the /app folder was owned by root, preventing our non-root user from writing the coverage database. I fixed this by chowning the directory in the Dockerfile. Second, Docker marked the frontend container unhealthy because BusyBox wget tried connecting to IPv6 localhost while Nginx only listened on IPv4. Adding an IPv6 listen directive solved the issue.</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conclude on Slide 10: PodiumHQ successfully demonstrates a modern DevSecOps project from scratch. Locally, everything is verified green: 31 tests pass with 91% coverage, all containers run healthy as non-root users, and all manifests for Terraform, Helm, ArgoCD, and Grafana are complete and validated. To be transparent about limitations: because cloud EKS and NAT Gateways incur hourly AWS bills, the cloud deployment was kept as validated code rather than a running cluster. This project gave me hands-on experience solving real configuration, security, and deployment challenges. Thank you, and I look forward to your questions!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80C14"/>
          </a:solidFill>
          <a:ln>
            <a:solidFill>
              <a:srgbClr val="080C1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0" y="365760"/>
            <a:ext cx="10728655" cy="54864"/>
          </a:xfrm>
          <a:prstGeom prst="rect">
            <a:avLst/>
          </a:prstGeom>
          <a:solidFill>
            <a:srgbClr val="F59E0B"/>
          </a:solidFill>
          <a:ln>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502920"/>
            <a:ext cx="5486400" cy="320040"/>
          </a:xfrm>
          <a:prstGeom prst="rect">
            <a:avLst/>
          </a:prstGeom>
          <a:noFill/>
        </p:spPr>
        <p:txBody>
          <a:bodyPr wrap="none">
            <a:spAutoFit/>
          </a:bodyPr>
          <a:lstStyle/>
          <a:p>
            <a:pPr>
              <a:defRPr sz="1000" b="1">
                <a:solidFill>
                  <a:srgbClr val="F59E0B"/>
                </a:solidFill>
                <a:latin typeface="Arial"/>
              </a:defRPr>
            </a:pPr>
            <a:r>
              <a:t>STUDENT PRESENTATION • PROJECT INTRODUCTION</a:t>
            </a:r>
          </a:p>
        </p:txBody>
      </p:sp>
      <p:sp>
        <p:nvSpPr>
          <p:cNvPr id="5" name="TextBox 4"/>
          <p:cNvSpPr txBox="1"/>
          <p:nvPr/>
        </p:nvSpPr>
        <p:spPr>
          <a:xfrm>
            <a:off x="8686800" y="502920"/>
            <a:ext cx="2743200" cy="320040"/>
          </a:xfrm>
          <a:prstGeom prst="rect">
            <a:avLst/>
          </a:prstGeom>
          <a:noFill/>
        </p:spPr>
        <p:txBody>
          <a:bodyPr wrap="none">
            <a:spAutoFit/>
          </a:bodyPr>
          <a:lstStyle/>
          <a:p>
            <a:pPr algn="r">
              <a:defRPr sz="1000" b="1">
                <a:solidFill>
                  <a:srgbClr val="94A3B8"/>
                </a:solidFill>
                <a:latin typeface="Arial"/>
              </a:defRPr>
            </a:pPr>
            <a:r>
              <a:t>SLIDE 1 OF 10</a:t>
            </a:r>
          </a:p>
        </p:txBody>
      </p:sp>
      <p:sp>
        <p:nvSpPr>
          <p:cNvPr id="6" name="TextBox 5"/>
          <p:cNvSpPr txBox="1"/>
          <p:nvPr/>
        </p:nvSpPr>
        <p:spPr>
          <a:xfrm>
            <a:off x="731520" y="777240"/>
            <a:ext cx="10728655" cy="594360"/>
          </a:xfrm>
          <a:prstGeom prst="rect">
            <a:avLst/>
          </a:prstGeom>
          <a:noFill/>
        </p:spPr>
        <p:txBody>
          <a:bodyPr wrap="square">
            <a:spAutoFit/>
          </a:bodyPr>
          <a:lstStyle/>
          <a:p>
            <a:pPr>
              <a:defRPr sz="2400" b="1">
                <a:solidFill>
                  <a:srgbClr val="F8FAFC"/>
                </a:solidFill>
                <a:latin typeface="Arial"/>
              </a:defRPr>
            </a:pPr>
            <a:r>
              <a:t>PodiumHQ — Hackathon Scoring Platform</a:t>
            </a:r>
          </a:p>
        </p:txBody>
      </p:sp>
      <p:sp>
        <p:nvSpPr>
          <p:cNvPr id="7" name="TextBox 6"/>
          <p:cNvSpPr txBox="1"/>
          <p:nvPr/>
        </p:nvSpPr>
        <p:spPr>
          <a:xfrm>
            <a:off x="731520" y="1325880"/>
            <a:ext cx="10728655" cy="411480"/>
          </a:xfrm>
          <a:prstGeom prst="rect">
            <a:avLst/>
          </a:prstGeom>
          <a:noFill/>
        </p:spPr>
        <p:txBody>
          <a:bodyPr wrap="square">
            <a:spAutoFit/>
          </a:bodyPr>
          <a:lstStyle/>
          <a:p>
            <a:pPr>
              <a:defRPr sz="1300">
                <a:solidFill>
                  <a:srgbClr val="10B981"/>
                </a:solidFill>
                <a:latin typeface="Arial"/>
              </a:defRPr>
            </a:pPr>
            <a:r>
              <a:t>DevSecOps Capstone Project | Final Year Technical Presentation</a:t>
            </a:r>
          </a:p>
        </p:txBody>
      </p:sp>
      <p:sp>
        <p:nvSpPr>
          <p:cNvPr id="8" name="Rounded Rectangle 7"/>
          <p:cNvSpPr/>
          <p:nvPr/>
        </p:nvSpPr>
        <p:spPr>
          <a:xfrm>
            <a:off x="731520" y="1874519"/>
            <a:ext cx="3423818" cy="4434840"/>
          </a:xfrm>
          <a:prstGeom prst="roundRect">
            <a:avLst/>
          </a:prstGeom>
          <a:solidFill>
            <a:srgbClr val="0F172A"/>
          </a:solidFill>
          <a:ln w="1270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68680" y="2011679"/>
            <a:ext cx="3149498" cy="411480"/>
          </a:xfrm>
          <a:prstGeom prst="rect">
            <a:avLst/>
          </a:prstGeom>
          <a:noFill/>
        </p:spPr>
        <p:txBody>
          <a:bodyPr wrap="square">
            <a:spAutoFit/>
          </a:bodyPr>
          <a:lstStyle/>
          <a:p>
            <a:pPr>
              <a:defRPr sz="1400" b="1">
                <a:solidFill>
                  <a:srgbClr val="F59E0B"/>
                </a:solidFill>
                <a:latin typeface="Arial"/>
              </a:defRPr>
            </a:pPr>
            <a:r>
              <a:t>What is PodiumHQ?</a:t>
            </a:r>
          </a:p>
        </p:txBody>
      </p:sp>
      <p:sp>
        <p:nvSpPr>
          <p:cNvPr id="10" name="TextBox 9"/>
          <p:cNvSpPr txBox="1"/>
          <p:nvPr/>
        </p:nvSpPr>
        <p:spPr>
          <a:xfrm>
            <a:off x="868680" y="2468879"/>
            <a:ext cx="3149498" cy="3703320"/>
          </a:xfrm>
          <a:prstGeom prst="rect">
            <a:avLst/>
          </a:prstGeom>
          <a:noFill/>
        </p:spPr>
        <p:txBody>
          <a:bodyPr wrap="square">
            <a:spAutoFit/>
          </a:bodyPr>
          <a:lstStyle/>
          <a:p>
            <a:pPr>
              <a:spcAft>
                <a:spcPts val="800"/>
              </a:spcAft>
              <a:defRPr sz="1200">
                <a:solidFill>
                  <a:srgbClr val="F8FAFC"/>
                </a:solidFill>
                <a:latin typeface="Calibri"/>
              </a:defRPr>
            </a:pPr>
            <a:r>
              <a:t>• A full-stack web platform for organizing and judging hackathons.</a:t>
            </a:r>
          </a:p>
          <a:p>
            <a:pPr>
              <a:spcAft>
                <a:spcPts val="800"/>
              </a:spcAft>
              <a:defRPr sz="1200">
                <a:solidFill>
                  <a:srgbClr val="F8FAFC"/>
                </a:solidFill>
                <a:latin typeface="Calibri"/>
              </a:defRPr>
            </a:pPr>
            <a:r>
              <a:t>• Allows judges to evaluate teams across multiple rounds and weighted criteria.</a:t>
            </a:r>
          </a:p>
          <a:p>
            <a:pPr>
              <a:spcAft>
                <a:spcPts val="800"/>
              </a:spcAft>
              <a:defRPr sz="1200">
                <a:solidFill>
                  <a:srgbClr val="F8FAFC"/>
                </a:solidFill>
                <a:latin typeface="Calibri"/>
              </a:defRPr>
            </a:pPr>
            <a:r>
              <a:t>• Computes team rankings in real time and displays an automated live leaderboard.</a:t>
            </a:r>
          </a:p>
        </p:txBody>
      </p:sp>
      <p:sp>
        <p:nvSpPr>
          <p:cNvPr id="11" name="Rounded Rectangle 10"/>
          <p:cNvSpPr/>
          <p:nvPr/>
        </p:nvSpPr>
        <p:spPr>
          <a:xfrm>
            <a:off x="4383938" y="1874519"/>
            <a:ext cx="3423818" cy="4434840"/>
          </a:xfrm>
          <a:prstGeom prst="roundRect">
            <a:avLst/>
          </a:prstGeom>
          <a:solidFill>
            <a:srgbClr val="0F172A"/>
          </a:solidFill>
          <a:ln w="1270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21098" y="2011679"/>
            <a:ext cx="3149498" cy="411480"/>
          </a:xfrm>
          <a:prstGeom prst="rect">
            <a:avLst/>
          </a:prstGeom>
          <a:noFill/>
        </p:spPr>
        <p:txBody>
          <a:bodyPr wrap="square">
            <a:spAutoFit/>
          </a:bodyPr>
          <a:lstStyle/>
          <a:p>
            <a:pPr>
              <a:defRPr sz="1400" b="1">
                <a:solidFill>
                  <a:srgbClr val="10B981"/>
                </a:solidFill>
                <a:latin typeface="Arial"/>
              </a:defRPr>
            </a:pPr>
            <a:r>
              <a:t>Why I Built This (Problem &amp; Goal)</a:t>
            </a:r>
          </a:p>
        </p:txBody>
      </p:sp>
      <p:sp>
        <p:nvSpPr>
          <p:cNvPr id="13" name="TextBox 12"/>
          <p:cNvSpPr txBox="1"/>
          <p:nvPr/>
        </p:nvSpPr>
        <p:spPr>
          <a:xfrm>
            <a:off x="4521098" y="2468879"/>
            <a:ext cx="3149498" cy="3703320"/>
          </a:xfrm>
          <a:prstGeom prst="rect">
            <a:avLst/>
          </a:prstGeom>
          <a:noFill/>
        </p:spPr>
        <p:txBody>
          <a:bodyPr wrap="square">
            <a:spAutoFit/>
          </a:bodyPr>
          <a:lstStyle/>
          <a:p>
            <a:pPr>
              <a:spcAft>
                <a:spcPts val="800"/>
              </a:spcAft>
              <a:defRPr sz="1200">
                <a:solidFill>
                  <a:srgbClr val="F8FAFC"/>
                </a:solidFill>
                <a:latin typeface="Calibri"/>
              </a:defRPr>
            </a:pPr>
            <a:r>
              <a:t>• Solves the mess of manual spreadsheets and delayed scores during hackathon deadlines.</a:t>
            </a:r>
          </a:p>
          <a:p>
            <a:pPr>
              <a:spcAft>
                <a:spcPts val="800"/>
              </a:spcAft>
              <a:defRPr sz="1200">
                <a:solidFill>
                  <a:srgbClr val="F8FAFC"/>
                </a:solidFill>
                <a:latin typeface="Calibri"/>
              </a:defRPr>
            </a:pPr>
            <a:r>
              <a:t>• Original application domain—built from scratch with zero TaskBoard code reuse.</a:t>
            </a:r>
          </a:p>
          <a:p>
            <a:pPr>
              <a:spcAft>
                <a:spcPts val="800"/>
              </a:spcAft>
              <a:defRPr sz="1200">
                <a:solidFill>
                  <a:srgbClr val="F8FAFC"/>
                </a:solidFill>
                <a:latin typeface="Calibri"/>
              </a:defRPr>
            </a:pPr>
            <a:r>
              <a:t>• Goal: Take a real web app through the complete DevSecOps pipeline from commit to cloud.</a:t>
            </a:r>
          </a:p>
        </p:txBody>
      </p:sp>
      <p:sp>
        <p:nvSpPr>
          <p:cNvPr id="14" name="Rounded Rectangle 13"/>
          <p:cNvSpPr/>
          <p:nvPr/>
        </p:nvSpPr>
        <p:spPr>
          <a:xfrm>
            <a:off x="8036356" y="1874519"/>
            <a:ext cx="3423818" cy="4434840"/>
          </a:xfrm>
          <a:prstGeom prst="roundRect">
            <a:avLst/>
          </a:prstGeom>
          <a:solidFill>
            <a:srgbClr val="0F172A"/>
          </a:solidFill>
          <a:ln w="1270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173516" y="2011679"/>
            <a:ext cx="3149498" cy="411480"/>
          </a:xfrm>
          <a:prstGeom prst="rect">
            <a:avLst/>
          </a:prstGeom>
          <a:noFill/>
        </p:spPr>
        <p:txBody>
          <a:bodyPr wrap="square">
            <a:spAutoFit/>
          </a:bodyPr>
          <a:lstStyle/>
          <a:p>
            <a:pPr>
              <a:defRPr sz="1400" b="1">
                <a:solidFill>
                  <a:srgbClr val="38BDF8"/>
                </a:solidFill>
                <a:latin typeface="Arial"/>
              </a:defRPr>
            </a:pPr>
            <a:r>
              <a:t>Student &amp; Project Info</a:t>
            </a:r>
          </a:p>
        </p:txBody>
      </p:sp>
      <p:sp>
        <p:nvSpPr>
          <p:cNvPr id="16" name="TextBox 15"/>
          <p:cNvSpPr txBox="1"/>
          <p:nvPr/>
        </p:nvSpPr>
        <p:spPr>
          <a:xfrm>
            <a:off x="8173516" y="2468879"/>
            <a:ext cx="3149498" cy="3703320"/>
          </a:xfrm>
          <a:prstGeom prst="rect">
            <a:avLst/>
          </a:prstGeom>
          <a:noFill/>
        </p:spPr>
        <p:txBody>
          <a:bodyPr wrap="square">
            <a:spAutoFit/>
          </a:bodyPr>
          <a:lstStyle/>
          <a:p>
            <a:pPr>
              <a:spcAft>
                <a:spcPts val="800"/>
              </a:spcAft>
              <a:defRPr sz="1200">
                <a:solidFill>
                  <a:srgbClr val="F8FAFC"/>
                </a:solidFill>
                <a:latin typeface="Calibri"/>
              </a:defRPr>
            </a:pPr>
            <a:r>
              <a:t>• Student Name: D.N.Nanda kishore</a:t>
            </a:r>
          </a:p>
          <a:p>
            <a:pPr>
              <a:spcAft>
                <a:spcPts val="800"/>
              </a:spcAft>
              <a:defRPr sz="1200">
                <a:solidFill>
                  <a:srgbClr val="F8FAFC"/>
                </a:solidFill>
                <a:latin typeface="Calibri"/>
              </a:defRPr>
            </a:pPr>
            <a:r>
              <a:t>• Roll Number: 10024 | BATCH: A</a:t>
            </a:r>
          </a:p>
          <a:p>
            <a:pPr>
              <a:spcAft>
                <a:spcPts val="800"/>
              </a:spcAft>
              <a:defRPr sz="1200">
                <a:solidFill>
                  <a:srgbClr val="F8FAFC"/>
                </a:solidFill>
                <a:latin typeface="Calibri"/>
              </a:defRPr>
            </a:pPr>
            <a:r>
              <a:t>• Stack: React 18, FastAPI, PostgreSQL, Docker, GitHub Actions, Terraform, Kubernetes</a:t>
            </a:r>
          </a:p>
        </p:txBody>
      </p:sp>
      <p:sp>
        <p:nvSpPr>
          <p:cNvPr id="17" name="TextBox 16"/>
          <p:cNvSpPr txBox="1"/>
          <p:nvPr/>
        </p:nvSpPr>
        <p:spPr>
          <a:xfrm>
            <a:off x="731520" y="6446520"/>
            <a:ext cx="10728655" cy="274320"/>
          </a:xfrm>
          <a:prstGeom prst="rect">
            <a:avLst/>
          </a:prstGeom>
          <a:noFill/>
        </p:spPr>
        <p:txBody>
          <a:bodyPr wrap="none">
            <a:spAutoFit/>
          </a:bodyPr>
          <a:lstStyle/>
          <a:p>
            <a:pPr>
              <a:defRPr sz="900">
                <a:solidFill>
                  <a:srgbClr val="94A3B8"/>
                </a:solidFill>
                <a:latin typeface="Arial"/>
              </a:defRPr>
            </a:pPr>
            <a:r>
              <a:t>PodiumHQ DevSecOps Capstone Presentation • Verified Codebase &amp; Realistic Engineering</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80C14"/>
          </a:solidFill>
          <a:ln>
            <a:solidFill>
              <a:srgbClr val="080C1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0" y="365760"/>
            <a:ext cx="10728655" cy="54864"/>
          </a:xfrm>
          <a:prstGeom prst="rect">
            <a:avLst/>
          </a:prstGeom>
          <a:solidFill>
            <a:srgbClr val="F59E0B"/>
          </a:solidFill>
          <a:ln>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502920"/>
            <a:ext cx="5486400" cy="320040"/>
          </a:xfrm>
          <a:prstGeom prst="rect">
            <a:avLst/>
          </a:prstGeom>
          <a:noFill/>
        </p:spPr>
        <p:txBody>
          <a:bodyPr wrap="none">
            <a:spAutoFit/>
          </a:bodyPr>
          <a:lstStyle/>
          <a:p>
            <a:pPr>
              <a:defRPr sz="1000" b="1">
                <a:solidFill>
                  <a:srgbClr val="F59E0B"/>
                </a:solidFill>
                <a:latin typeface="Arial"/>
              </a:defRPr>
            </a:pPr>
            <a:r>
              <a:t>STUDENT PRESENTATION • TECH STACK</a:t>
            </a:r>
          </a:p>
        </p:txBody>
      </p:sp>
      <p:sp>
        <p:nvSpPr>
          <p:cNvPr id="5" name="TextBox 4"/>
          <p:cNvSpPr txBox="1"/>
          <p:nvPr/>
        </p:nvSpPr>
        <p:spPr>
          <a:xfrm>
            <a:off x="8686800" y="502920"/>
            <a:ext cx="2743200" cy="320040"/>
          </a:xfrm>
          <a:prstGeom prst="rect">
            <a:avLst/>
          </a:prstGeom>
          <a:noFill/>
        </p:spPr>
        <p:txBody>
          <a:bodyPr wrap="none">
            <a:spAutoFit/>
          </a:bodyPr>
          <a:lstStyle/>
          <a:p>
            <a:pPr algn="r">
              <a:defRPr sz="1000" b="1">
                <a:solidFill>
                  <a:srgbClr val="94A3B8"/>
                </a:solidFill>
                <a:latin typeface="Arial"/>
              </a:defRPr>
            </a:pPr>
            <a:r>
              <a:t>SLIDE 2 OF 10</a:t>
            </a:r>
          </a:p>
        </p:txBody>
      </p:sp>
      <p:sp>
        <p:nvSpPr>
          <p:cNvPr id="6" name="TextBox 5"/>
          <p:cNvSpPr txBox="1"/>
          <p:nvPr/>
        </p:nvSpPr>
        <p:spPr>
          <a:xfrm>
            <a:off x="731520" y="777240"/>
            <a:ext cx="10728655" cy="594360"/>
          </a:xfrm>
          <a:prstGeom prst="rect">
            <a:avLst/>
          </a:prstGeom>
          <a:noFill/>
        </p:spPr>
        <p:txBody>
          <a:bodyPr wrap="square">
            <a:spAutoFit/>
          </a:bodyPr>
          <a:lstStyle/>
          <a:p>
            <a:pPr>
              <a:defRPr sz="2400" b="1">
                <a:solidFill>
                  <a:srgbClr val="F8FAFC"/>
                </a:solidFill>
                <a:latin typeface="Arial"/>
              </a:defRPr>
            </a:pPr>
            <a:r>
              <a:t>Application Stack &amp; Why I Chose These Tools</a:t>
            </a:r>
          </a:p>
        </p:txBody>
      </p:sp>
      <p:sp>
        <p:nvSpPr>
          <p:cNvPr id="7" name="TextBox 6"/>
          <p:cNvSpPr txBox="1"/>
          <p:nvPr/>
        </p:nvSpPr>
        <p:spPr>
          <a:xfrm>
            <a:off x="731520" y="1325880"/>
            <a:ext cx="10728655" cy="411480"/>
          </a:xfrm>
          <a:prstGeom prst="rect">
            <a:avLst/>
          </a:prstGeom>
          <a:noFill/>
        </p:spPr>
        <p:txBody>
          <a:bodyPr wrap="square">
            <a:spAutoFit/>
          </a:bodyPr>
          <a:lstStyle/>
          <a:p>
            <a:pPr>
              <a:defRPr sz="1300">
                <a:solidFill>
                  <a:srgbClr val="10B981"/>
                </a:solidFill>
                <a:latin typeface="Arial"/>
              </a:defRPr>
            </a:pPr>
            <a:r>
              <a:t>Simple, clean 3-tier architecture built with modern open-source tools</a:t>
            </a:r>
          </a:p>
        </p:txBody>
      </p:sp>
      <p:sp>
        <p:nvSpPr>
          <p:cNvPr id="8" name="Rounded Rectangle 7"/>
          <p:cNvSpPr/>
          <p:nvPr/>
        </p:nvSpPr>
        <p:spPr>
          <a:xfrm>
            <a:off x="731520" y="1874519"/>
            <a:ext cx="3423818" cy="4434840"/>
          </a:xfrm>
          <a:prstGeom prst="roundRect">
            <a:avLst/>
          </a:prstGeom>
          <a:solidFill>
            <a:srgbClr val="0F172A"/>
          </a:solidFill>
          <a:ln w="1270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68680" y="2011679"/>
            <a:ext cx="3149498" cy="411480"/>
          </a:xfrm>
          <a:prstGeom prst="rect">
            <a:avLst/>
          </a:prstGeom>
          <a:noFill/>
        </p:spPr>
        <p:txBody>
          <a:bodyPr wrap="square">
            <a:spAutoFit/>
          </a:bodyPr>
          <a:lstStyle/>
          <a:p>
            <a:pPr>
              <a:defRPr sz="1400" b="1">
                <a:solidFill>
                  <a:srgbClr val="38BDF8"/>
                </a:solidFill>
                <a:latin typeface="Arial"/>
              </a:defRPr>
            </a:pPr>
            <a:r>
              <a:t>Frontend: React 18 + Vite</a:t>
            </a:r>
          </a:p>
        </p:txBody>
      </p:sp>
      <p:sp>
        <p:nvSpPr>
          <p:cNvPr id="10" name="TextBox 9"/>
          <p:cNvSpPr txBox="1"/>
          <p:nvPr/>
        </p:nvSpPr>
        <p:spPr>
          <a:xfrm>
            <a:off x="868680" y="2468879"/>
            <a:ext cx="3149498" cy="3703320"/>
          </a:xfrm>
          <a:prstGeom prst="rect">
            <a:avLst/>
          </a:prstGeom>
          <a:noFill/>
        </p:spPr>
        <p:txBody>
          <a:bodyPr wrap="square">
            <a:spAutoFit/>
          </a:bodyPr>
          <a:lstStyle/>
          <a:p>
            <a:pPr>
              <a:spcAft>
                <a:spcPts val="800"/>
              </a:spcAft>
              <a:defRPr sz="1200">
                <a:solidFill>
                  <a:srgbClr val="F8FAFC"/>
                </a:solidFill>
                <a:latin typeface="Calibri"/>
              </a:defRPr>
            </a:pPr>
            <a:r>
              <a:t>• What it does: Single-page application with Tailwind CSS in an Obsidian &amp; Solar Gold theme.</a:t>
            </a:r>
          </a:p>
          <a:p>
            <a:pPr>
              <a:spcAft>
                <a:spcPts val="800"/>
              </a:spcAft>
              <a:defRPr sz="1200">
                <a:solidFill>
                  <a:srgbClr val="F8FAFC"/>
                </a:solidFill>
                <a:latin typeface="Calibri"/>
              </a:defRPr>
            </a:pPr>
            <a:r>
              <a:t>• Why I chose it: Needed a fast, reactive UI where judges can submit scores without page refreshes.</a:t>
            </a:r>
          </a:p>
          <a:p>
            <a:pPr>
              <a:spcAft>
                <a:spcPts val="800"/>
              </a:spcAft>
              <a:defRPr sz="1200">
                <a:solidFill>
                  <a:srgbClr val="F8FAFC"/>
                </a:solidFill>
                <a:latin typeface="Calibri"/>
              </a:defRPr>
            </a:pPr>
            <a:r>
              <a:t>• Runtime: Served through unprivileged Nginx on port 8080 (running as UID 101).</a:t>
            </a:r>
          </a:p>
        </p:txBody>
      </p:sp>
      <p:sp>
        <p:nvSpPr>
          <p:cNvPr id="11" name="Rounded Rectangle 10"/>
          <p:cNvSpPr/>
          <p:nvPr/>
        </p:nvSpPr>
        <p:spPr>
          <a:xfrm>
            <a:off x="4383938" y="1874519"/>
            <a:ext cx="3423818" cy="4434840"/>
          </a:xfrm>
          <a:prstGeom prst="roundRect">
            <a:avLst/>
          </a:prstGeom>
          <a:solidFill>
            <a:srgbClr val="0F172A"/>
          </a:solidFill>
          <a:ln w="1270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21098" y="2011679"/>
            <a:ext cx="3149498" cy="411480"/>
          </a:xfrm>
          <a:prstGeom prst="rect">
            <a:avLst/>
          </a:prstGeom>
          <a:noFill/>
        </p:spPr>
        <p:txBody>
          <a:bodyPr wrap="square">
            <a:spAutoFit/>
          </a:bodyPr>
          <a:lstStyle/>
          <a:p>
            <a:pPr>
              <a:defRPr sz="1400" b="1">
                <a:solidFill>
                  <a:srgbClr val="10B981"/>
                </a:solidFill>
                <a:latin typeface="Arial"/>
              </a:defRPr>
            </a:pPr>
            <a:r>
              <a:t>Backend: FastAPI (Python 3.12)</a:t>
            </a:r>
          </a:p>
        </p:txBody>
      </p:sp>
      <p:sp>
        <p:nvSpPr>
          <p:cNvPr id="13" name="TextBox 12"/>
          <p:cNvSpPr txBox="1"/>
          <p:nvPr/>
        </p:nvSpPr>
        <p:spPr>
          <a:xfrm>
            <a:off x="4521098" y="2468879"/>
            <a:ext cx="3149498" cy="3703320"/>
          </a:xfrm>
          <a:prstGeom prst="rect">
            <a:avLst/>
          </a:prstGeom>
          <a:noFill/>
        </p:spPr>
        <p:txBody>
          <a:bodyPr wrap="square">
            <a:spAutoFit/>
          </a:bodyPr>
          <a:lstStyle/>
          <a:p>
            <a:pPr>
              <a:spcAft>
                <a:spcPts val="800"/>
              </a:spcAft>
              <a:defRPr sz="1200">
                <a:solidFill>
                  <a:srgbClr val="F8FAFC"/>
                </a:solidFill>
                <a:latin typeface="Calibri"/>
              </a:defRPr>
            </a:pPr>
            <a:r>
              <a:t>• What it does: Handles 15+ REST endpoints for teams, criteria, judges, and score calculations.</a:t>
            </a:r>
          </a:p>
          <a:p>
            <a:pPr>
              <a:spcAft>
                <a:spcPts val="800"/>
              </a:spcAft>
              <a:defRPr sz="1200">
                <a:solidFill>
                  <a:srgbClr val="F8FAFC"/>
                </a:solidFill>
                <a:latin typeface="Calibri"/>
              </a:defRPr>
            </a:pPr>
            <a:r>
              <a:t>• Why I chose it: Automatic Swagger docs at /docs, async performance, and built-in health probes.</a:t>
            </a:r>
          </a:p>
          <a:p>
            <a:pPr>
              <a:spcAft>
                <a:spcPts val="800"/>
              </a:spcAft>
              <a:defRPr sz="1200">
                <a:solidFill>
                  <a:srgbClr val="F8FAFC"/>
                </a:solidFill>
                <a:latin typeface="Calibri"/>
              </a:defRPr>
            </a:pPr>
            <a:r>
              <a:t>• Runtime: Hardened Python container running strictly as non-root appuser (UID 10001).</a:t>
            </a:r>
          </a:p>
        </p:txBody>
      </p:sp>
      <p:sp>
        <p:nvSpPr>
          <p:cNvPr id="14" name="Rounded Rectangle 13"/>
          <p:cNvSpPr/>
          <p:nvPr/>
        </p:nvSpPr>
        <p:spPr>
          <a:xfrm>
            <a:off x="8036356" y="1874519"/>
            <a:ext cx="3423818" cy="4434840"/>
          </a:xfrm>
          <a:prstGeom prst="roundRect">
            <a:avLst/>
          </a:prstGeom>
          <a:solidFill>
            <a:srgbClr val="0F172A"/>
          </a:solidFill>
          <a:ln w="1270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173516" y="2011679"/>
            <a:ext cx="3149498" cy="411480"/>
          </a:xfrm>
          <a:prstGeom prst="rect">
            <a:avLst/>
          </a:prstGeom>
          <a:noFill/>
        </p:spPr>
        <p:txBody>
          <a:bodyPr wrap="square">
            <a:spAutoFit/>
          </a:bodyPr>
          <a:lstStyle/>
          <a:p>
            <a:pPr>
              <a:defRPr sz="1400" b="1">
                <a:solidFill>
                  <a:srgbClr val="F59E0B"/>
                </a:solidFill>
                <a:latin typeface="Arial"/>
              </a:defRPr>
            </a:pPr>
            <a:r>
              <a:t>Database: PostgreSQL 16</a:t>
            </a:r>
          </a:p>
        </p:txBody>
      </p:sp>
      <p:sp>
        <p:nvSpPr>
          <p:cNvPr id="16" name="TextBox 15"/>
          <p:cNvSpPr txBox="1"/>
          <p:nvPr/>
        </p:nvSpPr>
        <p:spPr>
          <a:xfrm>
            <a:off x="8173516" y="2468879"/>
            <a:ext cx="3149498" cy="3703320"/>
          </a:xfrm>
          <a:prstGeom prst="rect">
            <a:avLst/>
          </a:prstGeom>
          <a:noFill/>
        </p:spPr>
        <p:txBody>
          <a:bodyPr wrap="square">
            <a:spAutoFit/>
          </a:bodyPr>
          <a:lstStyle/>
          <a:p>
            <a:pPr>
              <a:spcAft>
                <a:spcPts val="800"/>
              </a:spcAft>
              <a:defRPr sz="1200">
                <a:solidFill>
                  <a:srgbClr val="F8FAFC"/>
                </a:solidFill>
                <a:latin typeface="Calibri"/>
              </a:defRPr>
            </a:pPr>
            <a:r>
              <a:t>• What it does: Stores events, rounds, criteria, teams, judges, and evaluations across 6 tables.</a:t>
            </a:r>
          </a:p>
          <a:p>
            <a:pPr>
              <a:spcAft>
                <a:spcPts val="800"/>
              </a:spcAft>
              <a:defRPr sz="1200">
                <a:solidFill>
                  <a:srgbClr val="F8FAFC"/>
                </a:solidFill>
                <a:latin typeface="Calibri"/>
              </a:defRPr>
            </a:pPr>
            <a:r>
              <a:t>• Why I chose it: Strong relational integrity, foreign keys, and safe schema migrations with Alembic.</a:t>
            </a:r>
          </a:p>
          <a:p>
            <a:pPr>
              <a:spcAft>
                <a:spcPts val="800"/>
              </a:spcAft>
              <a:defRPr sz="1200">
                <a:solidFill>
                  <a:srgbClr val="F8FAFC"/>
                </a:solidFill>
                <a:latin typeface="Calibri"/>
              </a:defRPr>
            </a:pPr>
            <a:r>
              <a:t>• Connection: Managed with SQLAlchemy 2.0 ORM and Psycopg 3 connection pooling.</a:t>
            </a:r>
          </a:p>
        </p:txBody>
      </p:sp>
      <p:sp>
        <p:nvSpPr>
          <p:cNvPr id="17" name="TextBox 16"/>
          <p:cNvSpPr txBox="1"/>
          <p:nvPr/>
        </p:nvSpPr>
        <p:spPr>
          <a:xfrm>
            <a:off x="731520" y="6446520"/>
            <a:ext cx="10728655" cy="274320"/>
          </a:xfrm>
          <a:prstGeom prst="rect">
            <a:avLst/>
          </a:prstGeom>
          <a:noFill/>
        </p:spPr>
        <p:txBody>
          <a:bodyPr wrap="none">
            <a:spAutoFit/>
          </a:bodyPr>
          <a:lstStyle/>
          <a:p>
            <a:pPr>
              <a:defRPr sz="900">
                <a:solidFill>
                  <a:srgbClr val="94A3B8"/>
                </a:solidFill>
                <a:latin typeface="Arial"/>
              </a:defRPr>
            </a:pPr>
            <a:r>
              <a:t>PodiumHQ DevSecOps Capstone Presentation • Verified Codebase &amp; Realistic Engineering</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80C14"/>
          </a:solidFill>
          <a:ln>
            <a:solidFill>
              <a:srgbClr val="080C1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0" y="365760"/>
            <a:ext cx="10728655" cy="54864"/>
          </a:xfrm>
          <a:prstGeom prst="rect">
            <a:avLst/>
          </a:prstGeom>
          <a:solidFill>
            <a:srgbClr val="F59E0B"/>
          </a:solidFill>
          <a:ln>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502920"/>
            <a:ext cx="5486400" cy="320040"/>
          </a:xfrm>
          <a:prstGeom prst="rect">
            <a:avLst/>
          </a:prstGeom>
          <a:noFill/>
        </p:spPr>
        <p:txBody>
          <a:bodyPr wrap="none">
            <a:spAutoFit/>
          </a:bodyPr>
          <a:lstStyle/>
          <a:p>
            <a:pPr>
              <a:defRPr sz="1000" b="1">
                <a:solidFill>
                  <a:srgbClr val="F59E0B"/>
                </a:solidFill>
                <a:latin typeface="Arial"/>
              </a:defRPr>
            </a:pPr>
            <a:r>
              <a:t>STUDENT PRESENTATION • SYSTEM ARCHITECTURE</a:t>
            </a:r>
          </a:p>
        </p:txBody>
      </p:sp>
      <p:sp>
        <p:nvSpPr>
          <p:cNvPr id="5" name="TextBox 4"/>
          <p:cNvSpPr txBox="1"/>
          <p:nvPr/>
        </p:nvSpPr>
        <p:spPr>
          <a:xfrm>
            <a:off x="8686800" y="502920"/>
            <a:ext cx="2743200" cy="320040"/>
          </a:xfrm>
          <a:prstGeom prst="rect">
            <a:avLst/>
          </a:prstGeom>
          <a:noFill/>
        </p:spPr>
        <p:txBody>
          <a:bodyPr wrap="none">
            <a:spAutoFit/>
          </a:bodyPr>
          <a:lstStyle/>
          <a:p>
            <a:pPr algn="r">
              <a:defRPr sz="1000" b="1">
                <a:solidFill>
                  <a:srgbClr val="94A3B8"/>
                </a:solidFill>
                <a:latin typeface="Arial"/>
              </a:defRPr>
            </a:pPr>
            <a:r>
              <a:t>SLIDE 3 OF 10</a:t>
            </a:r>
          </a:p>
        </p:txBody>
      </p:sp>
      <p:sp>
        <p:nvSpPr>
          <p:cNvPr id="6" name="TextBox 5"/>
          <p:cNvSpPr txBox="1"/>
          <p:nvPr/>
        </p:nvSpPr>
        <p:spPr>
          <a:xfrm>
            <a:off x="731520" y="777240"/>
            <a:ext cx="10728655" cy="594360"/>
          </a:xfrm>
          <a:prstGeom prst="rect">
            <a:avLst/>
          </a:prstGeom>
          <a:noFill/>
        </p:spPr>
        <p:txBody>
          <a:bodyPr wrap="square">
            <a:spAutoFit/>
          </a:bodyPr>
          <a:lstStyle/>
          <a:p>
            <a:pPr>
              <a:defRPr sz="2400" b="1">
                <a:solidFill>
                  <a:srgbClr val="F8FAFC"/>
                </a:solidFill>
                <a:latin typeface="Arial"/>
              </a:defRPr>
            </a:pPr>
            <a:r>
              <a:t>System Architecture: From Code to Deployment</a:t>
            </a:r>
          </a:p>
        </p:txBody>
      </p:sp>
      <p:sp>
        <p:nvSpPr>
          <p:cNvPr id="7" name="TextBox 6"/>
          <p:cNvSpPr txBox="1"/>
          <p:nvPr/>
        </p:nvSpPr>
        <p:spPr>
          <a:xfrm>
            <a:off x="731520" y="1325880"/>
            <a:ext cx="10728655" cy="411480"/>
          </a:xfrm>
          <a:prstGeom prst="rect">
            <a:avLst/>
          </a:prstGeom>
          <a:noFill/>
        </p:spPr>
        <p:txBody>
          <a:bodyPr wrap="square">
            <a:spAutoFit/>
          </a:bodyPr>
          <a:lstStyle/>
          <a:p>
            <a:pPr>
              <a:defRPr sz="1300">
                <a:solidFill>
                  <a:srgbClr val="10B981"/>
                </a:solidFill>
                <a:latin typeface="Arial"/>
              </a:defRPr>
            </a:pPr>
            <a:r>
              <a:t>How code moves from local development to automated deployment and monitoring</a:t>
            </a:r>
          </a:p>
        </p:txBody>
      </p:sp>
      <p:sp>
        <p:nvSpPr>
          <p:cNvPr id="8" name="Rounded Rectangle 7"/>
          <p:cNvSpPr/>
          <p:nvPr/>
        </p:nvSpPr>
        <p:spPr>
          <a:xfrm>
            <a:off x="731520" y="1828800"/>
            <a:ext cx="1645920" cy="777240"/>
          </a:xfrm>
          <a:prstGeom prst="roundRect">
            <a:avLst/>
          </a:prstGeom>
          <a:solidFill>
            <a:srgbClr val="0F172A"/>
          </a:solidFill>
          <a:ln w="1270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b="1">
                <a:solidFill>
                  <a:srgbClr val="F8FAFC"/>
                </a:solidFill>
                <a:latin typeface="Arial"/>
              </a:defRPr>
            </a:pPr>
            <a:r>
              <a:t>1. Developer</a:t>
            </a:r>
          </a:p>
          <a:p>
            <a:pPr algn="ctr">
              <a:defRPr sz="900">
                <a:solidFill>
                  <a:srgbClr val="94A3B8"/>
                </a:solidFill>
                <a:latin typeface="Calibri"/>
              </a:defRPr>
            </a:pPr>
            <a:r>
              <a:t>Git Push / Main</a:t>
            </a:r>
          </a:p>
        </p:txBody>
      </p:sp>
      <p:sp>
        <p:nvSpPr>
          <p:cNvPr id="9" name="Rounded Rectangle 8"/>
          <p:cNvSpPr/>
          <p:nvPr/>
        </p:nvSpPr>
        <p:spPr>
          <a:xfrm>
            <a:off x="2542032" y="1828800"/>
            <a:ext cx="1645920" cy="777240"/>
          </a:xfrm>
          <a:prstGeom prst="roundRect">
            <a:avLst/>
          </a:prstGeom>
          <a:solidFill>
            <a:srgbClr val="0F172A"/>
          </a:solidFill>
          <a:ln w="1905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b="1">
                <a:solidFill>
                  <a:srgbClr val="F8FAFC"/>
                </a:solidFill>
                <a:latin typeface="Arial"/>
              </a:defRPr>
            </a:pPr>
            <a:r>
              <a:t>2. GitHub Actions</a:t>
            </a:r>
          </a:p>
          <a:p>
            <a:pPr algn="ctr">
              <a:defRPr sz="900">
                <a:solidFill>
                  <a:srgbClr val="94A3B8"/>
                </a:solidFill>
                <a:latin typeface="Calibri"/>
              </a:defRPr>
            </a:pPr>
            <a:r>
              <a:t>Lint -&gt; Tests -&gt; Scan</a:t>
            </a:r>
          </a:p>
        </p:txBody>
      </p:sp>
      <p:sp>
        <p:nvSpPr>
          <p:cNvPr id="10" name="Rounded Rectangle 9"/>
          <p:cNvSpPr/>
          <p:nvPr/>
        </p:nvSpPr>
        <p:spPr>
          <a:xfrm>
            <a:off x="4352544" y="1828800"/>
            <a:ext cx="1645920" cy="777240"/>
          </a:xfrm>
          <a:prstGeom prst="roundRect">
            <a:avLst/>
          </a:prstGeom>
          <a:solidFill>
            <a:srgbClr val="0F172A"/>
          </a:solidFill>
          <a:ln w="1270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b="1">
                <a:solidFill>
                  <a:srgbClr val="F8FAFC"/>
                </a:solidFill>
                <a:latin typeface="Arial"/>
              </a:defRPr>
            </a:pPr>
            <a:r>
              <a:t>3. Registry</a:t>
            </a:r>
          </a:p>
          <a:p>
            <a:pPr algn="ctr">
              <a:defRPr sz="900">
                <a:solidFill>
                  <a:srgbClr val="94A3B8"/>
                </a:solidFill>
                <a:latin typeface="Calibri"/>
              </a:defRPr>
            </a:pPr>
            <a:r>
              <a:t>GHCR (Git SHA Tag)</a:t>
            </a:r>
          </a:p>
        </p:txBody>
      </p:sp>
      <p:sp>
        <p:nvSpPr>
          <p:cNvPr id="11" name="Rounded Rectangle 10"/>
          <p:cNvSpPr/>
          <p:nvPr/>
        </p:nvSpPr>
        <p:spPr>
          <a:xfrm>
            <a:off x="6163056" y="1828800"/>
            <a:ext cx="1645920" cy="777240"/>
          </a:xfrm>
          <a:prstGeom prst="roundRect">
            <a:avLst/>
          </a:prstGeom>
          <a:solidFill>
            <a:srgbClr val="0F172A"/>
          </a:solidFill>
          <a:ln w="1270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b="1">
                <a:solidFill>
                  <a:srgbClr val="F8FAFC"/>
                </a:solidFill>
                <a:latin typeface="Arial"/>
              </a:defRPr>
            </a:pPr>
            <a:r>
              <a:t>4. GitOps</a:t>
            </a:r>
          </a:p>
          <a:p>
            <a:pPr algn="ctr">
              <a:defRPr sz="900">
                <a:solidFill>
                  <a:srgbClr val="94A3B8"/>
                </a:solidFill>
                <a:latin typeface="Calibri"/>
              </a:defRPr>
            </a:pPr>
            <a:r>
              <a:t>ArgoCD Auto-Sync</a:t>
            </a:r>
          </a:p>
        </p:txBody>
      </p:sp>
      <p:sp>
        <p:nvSpPr>
          <p:cNvPr id="12" name="Rounded Rectangle 11"/>
          <p:cNvSpPr/>
          <p:nvPr/>
        </p:nvSpPr>
        <p:spPr>
          <a:xfrm>
            <a:off x="7973568" y="1828800"/>
            <a:ext cx="1645920" cy="777240"/>
          </a:xfrm>
          <a:prstGeom prst="roundRect">
            <a:avLst/>
          </a:prstGeom>
          <a:solidFill>
            <a:srgbClr val="0F172A"/>
          </a:solidFill>
          <a:ln w="1270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b="1">
                <a:solidFill>
                  <a:srgbClr val="F8FAFC"/>
                </a:solidFill>
                <a:latin typeface="Arial"/>
              </a:defRPr>
            </a:pPr>
            <a:r>
              <a:t>5. AWS EKS</a:t>
            </a:r>
          </a:p>
          <a:p>
            <a:pPr algn="ctr">
              <a:defRPr sz="900">
                <a:solidFill>
                  <a:srgbClr val="94A3B8"/>
                </a:solidFill>
                <a:latin typeface="Calibri"/>
              </a:defRPr>
            </a:pPr>
            <a:r>
              <a:t>VPC + Pods + HPA</a:t>
            </a:r>
          </a:p>
        </p:txBody>
      </p:sp>
      <p:sp>
        <p:nvSpPr>
          <p:cNvPr id="13" name="Rounded Rectangle 12"/>
          <p:cNvSpPr/>
          <p:nvPr/>
        </p:nvSpPr>
        <p:spPr>
          <a:xfrm>
            <a:off x="9784080" y="1828800"/>
            <a:ext cx="1645920" cy="777240"/>
          </a:xfrm>
          <a:prstGeom prst="roundRect">
            <a:avLst/>
          </a:prstGeom>
          <a:solidFill>
            <a:srgbClr val="0F172A"/>
          </a:solidFill>
          <a:ln w="1270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b="1">
                <a:solidFill>
                  <a:srgbClr val="F8FAFC"/>
                </a:solidFill>
                <a:latin typeface="Arial"/>
              </a:defRPr>
            </a:pPr>
            <a:r>
              <a:t>6. Monitoring</a:t>
            </a:r>
          </a:p>
          <a:p>
            <a:pPr algn="ctr">
              <a:defRPr sz="900">
                <a:solidFill>
                  <a:srgbClr val="94A3B8"/>
                </a:solidFill>
                <a:latin typeface="Calibri"/>
              </a:defRPr>
            </a:pPr>
            <a:r>
              <a:t>Prometheus &amp; Grafana</a:t>
            </a:r>
          </a:p>
        </p:txBody>
      </p:sp>
      <p:sp>
        <p:nvSpPr>
          <p:cNvPr id="14" name="Rounded Rectangle 13"/>
          <p:cNvSpPr/>
          <p:nvPr/>
        </p:nvSpPr>
        <p:spPr>
          <a:xfrm>
            <a:off x="731520" y="2834640"/>
            <a:ext cx="5250027" cy="3474720"/>
          </a:xfrm>
          <a:prstGeom prst="roundRect">
            <a:avLst/>
          </a:prstGeom>
          <a:solidFill>
            <a:srgbClr val="0F172A"/>
          </a:solidFill>
          <a:ln w="1270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68680" y="2971800"/>
            <a:ext cx="4975707" cy="411480"/>
          </a:xfrm>
          <a:prstGeom prst="rect">
            <a:avLst/>
          </a:prstGeom>
          <a:noFill/>
        </p:spPr>
        <p:txBody>
          <a:bodyPr wrap="square">
            <a:spAutoFit/>
          </a:bodyPr>
          <a:lstStyle/>
          <a:p>
            <a:pPr>
              <a:defRPr sz="1400" b="1">
                <a:solidFill>
                  <a:srgbClr val="F59E0B"/>
                </a:solidFill>
                <a:latin typeface="Arial"/>
              </a:defRPr>
            </a:pPr>
            <a:r>
              <a:t>Delivery Flow (CI/CD to Registry)</a:t>
            </a:r>
          </a:p>
        </p:txBody>
      </p:sp>
      <p:sp>
        <p:nvSpPr>
          <p:cNvPr id="16" name="TextBox 15"/>
          <p:cNvSpPr txBox="1"/>
          <p:nvPr/>
        </p:nvSpPr>
        <p:spPr>
          <a:xfrm>
            <a:off x="868680" y="3429000"/>
            <a:ext cx="4975707" cy="2743200"/>
          </a:xfrm>
          <a:prstGeom prst="rect">
            <a:avLst/>
          </a:prstGeom>
          <a:noFill/>
        </p:spPr>
        <p:txBody>
          <a:bodyPr wrap="square">
            <a:spAutoFit/>
          </a:bodyPr>
          <a:lstStyle/>
          <a:p>
            <a:pPr>
              <a:spcAft>
                <a:spcPts val="800"/>
              </a:spcAft>
              <a:defRPr sz="1200">
                <a:solidFill>
                  <a:srgbClr val="F8FAFC"/>
                </a:solidFill>
                <a:latin typeface="Calibri"/>
              </a:defRPr>
            </a:pPr>
            <a:r>
              <a:t>• Developer pushes code to GitHub repository.</a:t>
            </a:r>
          </a:p>
          <a:p>
            <a:pPr>
              <a:spcAft>
                <a:spcPts val="800"/>
              </a:spcAft>
              <a:defRPr sz="1200">
                <a:solidFill>
                  <a:srgbClr val="F8FAFC"/>
                </a:solidFill>
                <a:latin typeface="Calibri"/>
              </a:defRPr>
            </a:pPr>
            <a:r>
              <a:t>• GitHub Actions automatically runs linters, 31 pytest tests, and builds container images.</a:t>
            </a:r>
          </a:p>
          <a:p>
            <a:pPr>
              <a:spcAft>
                <a:spcPts val="800"/>
              </a:spcAft>
              <a:defRPr sz="1200">
                <a:solidFill>
                  <a:srgbClr val="F8FAFC"/>
                </a:solidFill>
                <a:latin typeface="Calibri"/>
              </a:defRPr>
            </a:pPr>
            <a:r>
              <a:t>• Trivy scans images for security vulnerabilities before anything is published.</a:t>
            </a:r>
          </a:p>
          <a:p>
            <a:pPr>
              <a:spcAft>
                <a:spcPts val="800"/>
              </a:spcAft>
              <a:defRPr sz="1200">
                <a:solidFill>
                  <a:srgbClr val="F8FAFC"/>
                </a:solidFill>
                <a:latin typeface="Calibri"/>
              </a:defRPr>
            </a:pPr>
            <a:r>
              <a:t>• Images are tagged with the Git commit SHA (e.g. :f990516) and pushed to GHCR.</a:t>
            </a:r>
          </a:p>
        </p:txBody>
      </p:sp>
      <p:sp>
        <p:nvSpPr>
          <p:cNvPr id="17" name="Rounded Rectangle 16"/>
          <p:cNvSpPr/>
          <p:nvPr/>
        </p:nvSpPr>
        <p:spPr>
          <a:xfrm>
            <a:off x="6210147" y="2834640"/>
            <a:ext cx="5250027" cy="3474720"/>
          </a:xfrm>
          <a:prstGeom prst="roundRect">
            <a:avLst/>
          </a:prstGeom>
          <a:solidFill>
            <a:srgbClr val="0F172A"/>
          </a:solidFill>
          <a:ln w="1270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347307" y="2971800"/>
            <a:ext cx="4975707" cy="411480"/>
          </a:xfrm>
          <a:prstGeom prst="rect">
            <a:avLst/>
          </a:prstGeom>
          <a:noFill/>
        </p:spPr>
        <p:txBody>
          <a:bodyPr wrap="square">
            <a:spAutoFit/>
          </a:bodyPr>
          <a:lstStyle/>
          <a:p>
            <a:pPr>
              <a:defRPr sz="1400" b="1">
                <a:solidFill>
                  <a:srgbClr val="10B981"/>
                </a:solidFill>
                <a:latin typeface="Arial"/>
              </a:defRPr>
            </a:pPr>
            <a:r>
              <a:t>Runtime Flow (Cluster &amp; Monitoring)</a:t>
            </a:r>
          </a:p>
        </p:txBody>
      </p:sp>
      <p:sp>
        <p:nvSpPr>
          <p:cNvPr id="19" name="TextBox 18"/>
          <p:cNvSpPr txBox="1"/>
          <p:nvPr/>
        </p:nvSpPr>
        <p:spPr>
          <a:xfrm>
            <a:off x="6347307" y="3429000"/>
            <a:ext cx="4975707" cy="2743200"/>
          </a:xfrm>
          <a:prstGeom prst="rect">
            <a:avLst/>
          </a:prstGeom>
          <a:noFill/>
        </p:spPr>
        <p:txBody>
          <a:bodyPr wrap="square">
            <a:spAutoFit/>
          </a:bodyPr>
          <a:lstStyle/>
          <a:p>
            <a:pPr>
              <a:spcAft>
                <a:spcPts val="800"/>
              </a:spcAft>
              <a:defRPr sz="1200">
                <a:solidFill>
                  <a:srgbClr val="F8FAFC"/>
                </a:solidFill>
                <a:latin typeface="Calibri"/>
              </a:defRPr>
            </a:pPr>
            <a:r>
              <a:t>• ArgoCD detects new image tags in Git and synchronizes manifests with the EKS cluster.</a:t>
            </a:r>
          </a:p>
          <a:p>
            <a:pPr>
              <a:spcAft>
                <a:spcPts val="800"/>
              </a:spcAft>
              <a:defRPr sz="1200">
                <a:solidFill>
                  <a:srgbClr val="F8FAFC"/>
                </a:solidFill>
                <a:latin typeface="Calibri"/>
              </a:defRPr>
            </a:pPr>
            <a:r>
              <a:t>• Ingress routes incoming traffic: / to frontend pods and /api to backend pods.</a:t>
            </a:r>
          </a:p>
          <a:p>
            <a:pPr>
              <a:spcAft>
                <a:spcPts val="800"/>
              </a:spcAft>
              <a:defRPr sz="1200">
                <a:solidFill>
                  <a:srgbClr val="F8FAFC"/>
                </a:solidFill>
                <a:latin typeface="Calibri"/>
              </a:defRPr>
            </a:pPr>
            <a:r>
              <a:t>• Horizontal Pod Autoscaler (HPA) scales backend pods between 2 and 6 replicas based on CPU.</a:t>
            </a:r>
          </a:p>
          <a:p>
            <a:pPr>
              <a:spcAft>
                <a:spcPts val="800"/>
              </a:spcAft>
              <a:defRPr sz="1200">
                <a:solidFill>
                  <a:srgbClr val="F8FAFC"/>
                </a:solidFill>
                <a:latin typeface="Calibri"/>
              </a:defRPr>
            </a:pPr>
            <a:r>
              <a:t>• Prometheus continuously scrapes /metrics to track response times and error rates.</a:t>
            </a:r>
          </a:p>
        </p:txBody>
      </p:sp>
      <p:sp>
        <p:nvSpPr>
          <p:cNvPr id="20" name="TextBox 19"/>
          <p:cNvSpPr txBox="1"/>
          <p:nvPr/>
        </p:nvSpPr>
        <p:spPr>
          <a:xfrm>
            <a:off x="731520" y="6446520"/>
            <a:ext cx="10728655" cy="274320"/>
          </a:xfrm>
          <a:prstGeom prst="rect">
            <a:avLst/>
          </a:prstGeom>
          <a:noFill/>
        </p:spPr>
        <p:txBody>
          <a:bodyPr wrap="none">
            <a:spAutoFit/>
          </a:bodyPr>
          <a:lstStyle/>
          <a:p>
            <a:pPr>
              <a:defRPr sz="900">
                <a:solidFill>
                  <a:srgbClr val="94A3B8"/>
                </a:solidFill>
                <a:latin typeface="Arial"/>
              </a:defRPr>
            </a:pPr>
            <a:r>
              <a:t>PodiumHQ DevSecOps Capstone Presentation • Verified Codebase &amp; Realistic Engineering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80C14"/>
          </a:solidFill>
          <a:ln>
            <a:solidFill>
              <a:srgbClr val="080C1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0" y="365760"/>
            <a:ext cx="10728655" cy="54864"/>
          </a:xfrm>
          <a:prstGeom prst="rect">
            <a:avLst/>
          </a:prstGeom>
          <a:solidFill>
            <a:srgbClr val="F59E0B"/>
          </a:solidFill>
          <a:ln>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502920"/>
            <a:ext cx="5486400" cy="320040"/>
          </a:xfrm>
          <a:prstGeom prst="rect">
            <a:avLst/>
          </a:prstGeom>
          <a:noFill/>
        </p:spPr>
        <p:txBody>
          <a:bodyPr wrap="none">
            <a:spAutoFit/>
          </a:bodyPr>
          <a:lstStyle/>
          <a:p>
            <a:pPr>
              <a:defRPr sz="1000" b="1">
                <a:solidFill>
                  <a:srgbClr val="F59E0B"/>
                </a:solidFill>
                <a:latin typeface="Arial"/>
              </a:defRPr>
            </a:pPr>
            <a:r>
              <a:t>STUDENT PRESENTATION • CI/CD WORKFLOW</a:t>
            </a:r>
          </a:p>
        </p:txBody>
      </p:sp>
      <p:sp>
        <p:nvSpPr>
          <p:cNvPr id="5" name="TextBox 4"/>
          <p:cNvSpPr txBox="1"/>
          <p:nvPr/>
        </p:nvSpPr>
        <p:spPr>
          <a:xfrm>
            <a:off x="8686800" y="502920"/>
            <a:ext cx="2743200" cy="320040"/>
          </a:xfrm>
          <a:prstGeom prst="rect">
            <a:avLst/>
          </a:prstGeom>
          <a:noFill/>
        </p:spPr>
        <p:txBody>
          <a:bodyPr wrap="none">
            <a:spAutoFit/>
          </a:bodyPr>
          <a:lstStyle/>
          <a:p>
            <a:pPr algn="r">
              <a:defRPr sz="1000" b="1">
                <a:solidFill>
                  <a:srgbClr val="94A3B8"/>
                </a:solidFill>
                <a:latin typeface="Arial"/>
              </a:defRPr>
            </a:pPr>
            <a:r>
              <a:t>SLIDE 4 OF 10</a:t>
            </a:r>
          </a:p>
        </p:txBody>
      </p:sp>
      <p:sp>
        <p:nvSpPr>
          <p:cNvPr id="6" name="TextBox 5"/>
          <p:cNvSpPr txBox="1"/>
          <p:nvPr/>
        </p:nvSpPr>
        <p:spPr>
          <a:xfrm>
            <a:off x="731520" y="777240"/>
            <a:ext cx="10728655" cy="594360"/>
          </a:xfrm>
          <a:prstGeom prst="rect">
            <a:avLst/>
          </a:prstGeom>
          <a:noFill/>
        </p:spPr>
        <p:txBody>
          <a:bodyPr wrap="square">
            <a:spAutoFit/>
          </a:bodyPr>
          <a:lstStyle/>
          <a:p>
            <a:pPr>
              <a:defRPr sz="2400" b="1">
                <a:solidFill>
                  <a:srgbClr val="F8FAFC"/>
                </a:solidFill>
                <a:latin typeface="Arial"/>
              </a:defRPr>
            </a:pPr>
            <a:r>
              <a:t>CI/CD Pipeline with GitHub Actions</a:t>
            </a:r>
          </a:p>
        </p:txBody>
      </p:sp>
      <p:sp>
        <p:nvSpPr>
          <p:cNvPr id="7" name="TextBox 6"/>
          <p:cNvSpPr txBox="1"/>
          <p:nvPr/>
        </p:nvSpPr>
        <p:spPr>
          <a:xfrm>
            <a:off x="731520" y="1325880"/>
            <a:ext cx="10728655" cy="411480"/>
          </a:xfrm>
          <a:prstGeom prst="rect">
            <a:avLst/>
          </a:prstGeom>
          <a:noFill/>
        </p:spPr>
        <p:txBody>
          <a:bodyPr wrap="square">
            <a:spAutoFit/>
          </a:bodyPr>
          <a:lstStyle/>
          <a:p>
            <a:pPr>
              <a:defRPr sz="1300">
                <a:solidFill>
                  <a:srgbClr val="10B981"/>
                </a:solidFill>
                <a:latin typeface="Arial"/>
              </a:defRPr>
            </a:pPr>
            <a:r>
              <a:t>Automating code checks, test coverage, and security vulnerability scanning</a:t>
            </a:r>
          </a:p>
        </p:txBody>
      </p:sp>
      <p:sp>
        <p:nvSpPr>
          <p:cNvPr id="8" name="Rounded Rectangle 7"/>
          <p:cNvSpPr/>
          <p:nvPr/>
        </p:nvSpPr>
        <p:spPr>
          <a:xfrm>
            <a:off x="731520" y="1874519"/>
            <a:ext cx="3423818" cy="4434840"/>
          </a:xfrm>
          <a:prstGeom prst="roundRect">
            <a:avLst/>
          </a:prstGeom>
          <a:solidFill>
            <a:srgbClr val="0F172A"/>
          </a:solidFill>
          <a:ln w="1270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68680" y="2011679"/>
            <a:ext cx="3149498" cy="411480"/>
          </a:xfrm>
          <a:prstGeom prst="rect">
            <a:avLst/>
          </a:prstGeom>
          <a:noFill/>
        </p:spPr>
        <p:txBody>
          <a:bodyPr wrap="square">
            <a:spAutoFit/>
          </a:bodyPr>
          <a:lstStyle/>
          <a:p>
            <a:pPr>
              <a:defRPr sz="1400" b="1">
                <a:solidFill>
                  <a:srgbClr val="38BDF8"/>
                </a:solidFill>
                <a:latin typeface="Arial"/>
              </a:defRPr>
            </a:pPr>
            <a:r>
              <a:t>Step 1: Code Quality &amp; Linting</a:t>
            </a:r>
          </a:p>
        </p:txBody>
      </p:sp>
      <p:sp>
        <p:nvSpPr>
          <p:cNvPr id="10" name="TextBox 9"/>
          <p:cNvSpPr txBox="1"/>
          <p:nvPr/>
        </p:nvSpPr>
        <p:spPr>
          <a:xfrm>
            <a:off x="868680" y="2468879"/>
            <a:ext cx="3149498" cy="3703320"/>
          </a:xfrm>
          <a:prstGeom prst="rect">
            <a:avLst/>
          </a:prstGeom>
          <a:noFill/>
        </p:spPr>
        <p:txBody>
          <a:bodyPr wrap="square">
            <a:spAutoFit/>
          </a:bodyPr>
          <a:lstStyle/>
          <a:p>
            <a:pPr>
              <a:spcAft>
                <a:spcPts val="800"/>
              </a:spcAft>
              <a:defRPr sz="1200">
                <a:solidFill>
                  <a:srgbClr val="F8FAFC"/>
                </a:solidFill>
                <a:latin typeface="Calibri"/>
              </a:defRPr>
            </a:pPr>
            <a:r>
              <a:t>• What it does: Runs Ruff for Python code formatting and Mypy for static type validation.</a:t>
            </a:r>
          </a:p>
          <a:p>
            <a:pPr>
              <a:spcAft>
                <a:spcPts val="800"/>
              </a:spcAft>
              <a:defRPr sz="1200">
                <a:solidFill>
                  <a:srgbClr val="F8FAFC"/>
                </a:solidFill>
                <a:latin typeface="Calibri"/>
              </a:defRPr>
            </a:pPr>
            <a:r>
              <a:t>• Why it matters: Catches syntax errors, bad imports, and type mismatches before tests run.</a:t>
            </a:r>
          </a:p>
          <a:p>
            <a:pPr>
              <a:spcAft>
                <a:spcPts val="800"/>
              </a:spcAft>
              <a:defRPr sz="1200">
                <a:solidFill>
                  <a:srgbClr val="F8FAFC"/>
                </a:solidFill>
                <a:latin typeface="Calibri"/>
              </a:defRPr>
            </a:pPr>
            <a:r>
              <a:t>• Frontend: Runs npm run lint to catch unused variables and component bugs.</a:t>
            </a:r>
          </a:p>
        </p:txBody>
      </p:sp>
      <p:sp>
        <p:nvSpPr>
          <p:cNvPr id="11" name="Rounded Rectangle 10"/>
          <p:cNvSpPr/>
          <p:nvPr/>
        </p:nvSpPr>
        <p:spPr>
          <a:xfrm>
            <a:off x="4383938" y="1874519"/>
            <a:ext cx="3423818" cy="4434840"/>
          </a:xfrm>
          <a:prstGeom prst="roundRect">
            <a:avLst/>
          </a:prstGeom>
          <a:solidFill>
            <a:srgbClr val="0F172A"/>
          </a:solidFill>
          <a:ln w="1270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21098" y="2011679"/>
            <a:ext cx="3149498" cy="411480"/>
          </a:xfrm>
          <a:prstGeom prst="rect">
            <a:avLst/>
          </a:prstGeom>
          <a:noFill/>
        </p:spPr>
        <p:txBody>
          <a:bodyPr wrap="square">
            <a:spAutoFit/>
          </a:bodyPr>
          <a:lstStyle/>
          <a:p>
            <a:pPr>
              <a:defRPr sz="1400" b="1">
                <a:solidFill>
                  <a:srgbClr val="10B981"/>
                </a:solidFill>
                <a:latin typeface="Arial"/>
              </a:defRPr>
            </a:pPr>
            <a:r>
              <a:t>Step 2: Automated Tests &amp; Coverage Gate</a:t>
            </a:r>
          </a:p>
        </p:txBody>
      </p:sp>
      <p:sp>
        <p:nvSpPr>
          <p:cNvPr id="13" name="TextBox 12"/>
          <p:cNvSpPr txBox="1"/>
          <p:nvPr/>
        </p:nvSpPr>
        <p:spPr>
          <a:xfrm>
            <a:off x="4521098" y="2468879"/>
            <a:ext cx="3149498" cy="3703320"/>
          </a:xfrm>
          <a:prstGeom prst="rect">
            <a:avLst/>
          </a:prstGeom>
          <a:noFill/>
        </p:spPr>
        <p:txBody>
          <a:bodyPr wrap="square">
            <a:spAutoFit/>
          </a:bodyPr>
          <a:lstStyle/>
          <a:p>
            <a:pPr>
              <a:spcAft>
                <a:spcPts val="800"/>
              </a:spcAft>
              <a:defRPr sz="1200">
                <a:solidFill>
                  <a:srgbClr val="F8FAFC"/>
                </a:solidFill>
                <a:latin typeface="Calibri"/>
              </a:defRPr>
            </a:pPr>
            <a:r>
              <a:t>• What it does: Executes 31 unit and integration tests using Pytest.</a:t>
            </a:r>
          </a:p>
          <a:p>
            <a:pPr>
              <a:spcAft>
                <a:spcPts val="800"/>
              </a:spcAft>
              <a:defRPr sz="1200">
                <a:solidFill>
                  <a:srgbClr val="F8FAFC"/>
                </a:solidFill>
                <a:latin typeface="Calibri"/>
              </a:defRPr>
            </a:pPr>
            <a:r>
              <a:t>• Coverage Gate: Pytest-cov enforces a strict 80% minimum coverage threshold.</a:t>
            </a:r>
          </a:p>
          <a:p>
            <a:pPr>
              <a:spcAft>
                <a:spcPts val="800"/>
              </a:spcAft>
              <a:defRPr sz="1200">
                <a:solidFill>
                  <a:srgbClr val="F8FAFC"/>
                </a:solidFill>
                <a:latin typeface="Calibri"/>
              </a:defRPr>
            </a:pPr>
            <a:r>
              <a:t>• Current Result: 90.99% overall code coverage. If coverage falls below 80%, the build fails.</a:t>
            </a:r>
          </a:p>
        </p:txBody>
      </p:sp>
      <p:sp>
        <p:nvSpPr>
          <p:cNvPr id="14" name="Rounded Rectangle 13"/>
          <p:cNvSpPr/>
          <p:nvPr/>
        </p:nvSpPr>
        <p:spPr>
          <a:xfrm>
            <a:off x="8036356" y="1874519"/>
            <a:ext cx="3423818" cy="4434840"/>
          </a:xfrm>
          <a:prstGeom prst="roundRect">
            <a:avLst/>
          </a:prstGeom>
          <a:solidFill>
            <a:srgbClr val="0F172A"/>
          </a:solidFill>
          <a:ln w="1270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173516" y="2011679"/>
            <a:ext cx="3149498" cy="411480"/>
          </a:xfrm>
          <a:prstGeom prst="rect">
            <a:avLst/>
          </a:prstGeom>
          <a:noFill/>
        </p:spPr>
        <p:txBody>
          <a:bodyPr wrap="square">
            <a:spAutoFit/>
          </a:bodyPr>
          <a:lstStyle/>
          <a:p>
            <a:pPr>
              <a:defRPr sz="1400" b="1">
                <a:solidFill>
                  <a:srgbClr val="F59E0B"/>
                </a:solidFill>
                <a:latin typeface="Arial"/>
              </a:defRPr>
            </a:pPr>
            <a:r>
              <a:t>Step 3: Build &amp; Security Scanning (Trivy)</a:t>
            </a:r>
          </a:p>
        </p:txBody>
      </p:sp>
      <p:sp>
        <p:nvSpPr>
          <p:cNvPr id="16" name="TextBox 15"/>
          <p:cNvSpPr txBox="1"/>
          <p:nvPr/>
        </p:nvSpPr>
        <p:spPr>
          <a:xfrm>
            <a:off x="8173516" y="2468879"/>
            <a:ext cx="3149498" cy="3703320"/>
          </a:xfrm>
          <a:prstGeom prst="rect">
            <a:avLst/>
          </a:prstGeom>
          <a:noFill/>
        </p:spPr>
        <p:txBody>
          <a:bodyPr wrap="square">
            <a:spAutoFit/>
          </a:bodyPr>
          <a:lstStyle/>
          <a:p>
            <a:pPr>
              <a:spcAft>
                <a:spcPts val="800"/>
              </a:spcAft>
              <a:defRPr sz="1200">
                <a:solidFill>
                  <a:srgbClr val="F8FAFC"/>
                </a:solidFill>
                <a:latin typeface="Calibri"/>
              </a:defRPr>
            </a:pPr>
            <a:r>
              <a:t>• What it does: Builds multi-stage Docker images and scans them with Trivy.</a:t>
            </a:r>
          </a:p>
          <a:p>
            <a:pPr>
              <a:spcAft>
                <a:spcPts val="800"/>
              </a:spcAft>
              <a:defRPr sz="1200">
                <a:solidFill>
                  <a:srgbClr val="F8FAFC"/>
                </a:solidFill>
                <a:latin typeface="Calibri"/>
              </a:defRPr>
            </a:pPr>
            <a:r>
              <a:t>• Security Gate: Fails the pipeline if any HIGH or CRITICAL CVEs are detected.</a:t>
            </a:r>
          </a:p>
          <a:p>
            <a:pPr>
              <a:spcAft>
                <a:spcPts val="800"/>
              </a:spcAft>
              <a:defRPr sz="1200">
                <a:solidFill>
                  <a:srgbClr val="F8FAFC"/>
                </a:solidFill>
                <a:latin typeface="Calibri"/>
              </a:defRPr>
            </a:pPr>
            <a:r>
              <a:t>• Publishing: Successful builds are pushed to GHCR with immutable Git SHA tags, never :latest.</a:t>
            </a:r>
          </a:p>
        </p:txBody>
      </p:sp>
      <p:sp>
        <p:nvSpPr>
          <p:cNvPr id="17" name="TextBox 16"/>
          <p:cNvSpPr txBox="1"/>
          <p:nvPr/>
        </p:nvSpPr>
        <p:spPr>
          <a:xfrm>
            <a:off x="731520" y="6446520"/>
            <a:ext cx="10728655" cy="274320"/>
          </a:xfrm>
          <a:prstGeom prst="rect">
            <a:avLst/>
          </a:prstGeom>
          <a:noFill/>
        </p:spPr>
        <p:txBody>
          <a:bodyPr wrap="none">
            <a:spAutoFit/>
          </a:bodyPr>
          <a:lstStyle/>
          <a:p>
            <a:pPr>
              <a:defRPr sz="900">
                <a:solidFill>
                  <a:srgbClr val="94A3B8"/>
                </a:solidFill>
                <a:latin typeface="Arial"/>
              </a:defRPr>
            </a:pPr>
            <a:r>
              <a:t>PodiumHQ DevSecOps Capstone Presentation • Verified Codebase &amp; Realistic Engineering</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80C14"/>
          </a:solidFill>
          <a:ln>
            <a:solidFill>
              <a:srgbClr val="080C1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0" y="365760"/>
            <a:ext cx="10728655" cy="54864"/>
          </a:xfrm>
          <a:prstGeom prst="rect">
            <a:avLst/>
          </a:prstGeom>
          <a:solidFill>
            <a:srgbClr val="F59E0B"/>
          </a:solidFill>
          <a:ln>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502920"/>
            <a:ext cx="5486400" cy="320040"/>
          </a:xfrm>
          <a:prstGeom prst="rect">
            <a:avLst/>
          </a:prstGeom>
          <a:noFill/>
        </p:spPr>
        <p:txBody>
          <a:bodyPr wrap="none">
            <a:spAutoFit/>
          </a:bodyPr>
          <a:lstStyle/>
          <a:p>
            <a:pPr>
              <a:defRPr sz="1000" b="1">
                <a:solidFill>
                  <a:srgbClr val="F59E0B"/>
                </a:solidFill>
                <a:latin typeface="Arial"/>
              </a:defRPr>
            </a:pPr>
            <a:r>
              <a:t>STUDENT PRESENTATION • TERRAFORM IAC</a:t>
            </a:r>
          </a:p>
        </p:txBody>
      </p:sp>
      <p:sp>
        <p:nvSpPr>
          <p:cNvPr id="5" name="TextBox 4"/>
          <p:cNvSpPr txBox="1"/>
          <p:nvPr/>
        </p:nvSpPr>
        <p:spPr>
          <a:xfrm>
            <a:off x="8686800" y="502920"/>
            <a:ext cx="2743200" cy="320040"/>
          </a:xfrm>
          <a:prstGeom prst="rect">
            <a:avLst/>
          </a:prstGeom>
          <a:noFill/>
        </p:spPr>
        <p:txBody>
          <a:bodyPr wrap="none">
            <a:spAutoFit/>
          </a:bodyPr>
          <a:lstStyle/>
          <a:p>
            <a:pPr algn="r">
              <a:defRPr sz="1000" b="1">
                <a:solidFill>
                  <a:srgbClr val="94A3B8"/>
                </a:solidFill>
                <a:latin typeface="Arial"/>
              </a:defRPr>
            </a:pPr>
            <a:r>
              <a:t>SLIDE 5 OF 10</a:t>
            </a:r>
          </a:p>
        </p:txBody>
      </p:sp>
      <p:sp>
        <p:nvSpPr>
          <p:cNvPr id="6" name="TextBox 5"/>
          <p:cNvSpPr txBox="1"/>
          <p:nvPr/>
        </p:nvSpPr>
        <p:spPr>
          <a:xfrm>
            <a:off x="731520" y="777240"/>
            <a:ext cx="10728655" cy="594360"/>
          </a:xfrm>
          <a:prstGeom prst="rect">
            <a:avLst/>
          </a:prstGeom>
          <a:noFill/>
        </p:spPr>
        <p:txBody>
          <a:bodyPr wrap="square">
            <a:spAutoFit/>
          </a:bodyPr>
          <a:lstStyle/>
          <a:p>
            <a:pPr>
              <a:defRPr sz="2400" b="1">
                <a:solidFill>
                  <a:srgbClr val="F8FAFC"/>
                </a:solidFill>
                <a:latin typeface="Arial"/>
              </a:defRPr>
            </a:pPr>
            <a:r>
              <a:t>Infrastructure as Code: Terraform on AWS</a:t>
            </a:r>
          </a:p>
        </p:txBody>
      </p:sp>
      <p:sp>
        <p:nvSpPr>
          <p:cNvPr id="7" name="TextBox 6"/>
          <p:cNvSpPr txBox="1"/>
          <p:nvPr/>
        </p:nvSpPr>
        <p:spPr>
          <a:xfrm>
            <a:off x="731520" y="1325880"/>
            <a:ext cx="10728655" cy="411480"/>
          </a:xfrm>
          <a:prstGeom prst="rect">
            <a:avLst/>
          </a:prstGeom>
          <a:noFill/>
        </p:spPr>
        <p:txBody>
          <a:bodyPr wrap="square">
            <a:spAutoFit/>
          </a:bodyPr>
          <a:lstStyle/>
          <a:p>
            <a:pPr>
              <a:defRPr sz="1300">
                <a:solidFill>
                  <a:srgbClr val="10B981"/>
                </a:solidFill>
                <a:latin typeface="Arial"/>
              </a:defRPr>
            </a:pPr>
            <a:r>
              <a:t>Writing code to provision cloud networks and Kubernetes instead of manual setup</a:t>
            </a:r>
          </a:p>
        </p:txBody>
      </p:sp>
      <p:sp>
        <p:nvSpPr>
          <p:cNvPr id="8" name="Rounded Rectangle 7"/>
          <p:cNvSpPr/>
          <p:nvPr/>
        </p:nvSpPr>
        <p:spPr>
          <a:xfrm>
            <a:off x="731520" y="1874519"/>
            <a:ext cx="3423818" cy="4434840"/>
          </a:xfrm>
          <a:prstGeom prst="roundRect">
            <a:avLst/>
          </a:prstGeom>
          <a:solidFill>
            <a:srgbClr val="0F172A"/>
          </a:solidFill>
          <a:ln w="1270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68680" y="2011679"/>
            <a:ext cx="3149498" cy="411480"/>
          </a:xfrm>
          <a:prstGeom prst="rect">
            <a:avLst/>
          </a:prstGeom>
          <a:noFill/>
        </p:spPr>
        <p:txBody>
          <a:bodyPr wrap="square">
            <a:spAutoFit/>
          </a:bodyPr>
          <a:lstStyle/>
          <a:p>
            <a:pPr>
              <a:defRPr sz="1400" b="1">
                <a:solidFill>
                  <a:srgbClr val="38BDF8"/>
                </a:solidFill>
                <a:latin typeface="Arial"/>
              </a:defRPr>
            </a:pPr>
            <a:r>
              <a:t>Network: AWS VPC (vpc.tf)</a:t>
            </a:r>
          </a:p>
        </p:txBody>
      </p:sp>
      <p:sp>
        <p:nvSpPr>
          <p:cNvPr id="10" name="TextBox 9"/>
          <p:cNvSpPr txBox="1"/>
          <p:nvPr/>
        </p:nvSpPr>
        <p:spPr>
          <a:xfrm>
            <a:off x="868680" y="2468879"/>
            <a:ext cx="3149498" cy="3703320"/>
          </a:xfrm>
          <a:prstGeom prst="rect">
            <a:avLst/>
          </a:prstGeom>
          <a:noFill/>
        </p:spPr>
        <p:txBody>
          <a:bodyPr wrap="square">
            <a:spAutoFit/>
          </a:bodyPr>
          <a:lstStyle/>
          <a:p>
            <a:pPr>
              <a:spcAft>
                <a:spcPts val="800"/>
              </a:spcAft>
              <a:defRPr sz="1200">
                <a:solidFill>
                  <a:srgbClr val="F8FAFC"/>
                </a:solidFill>
                <a:latin typeface="Calibri"/>
              </a:defRPr>
            </a:pPr>
            <a:r>
              <a:t>• Spans 3 Availability Zones in AWS ap-south-1 (Mumbai) for reliability.</a:t>
            </a:r>
          </a:p>
          <a:p>
            <a:pPr>
              <a:spcAft>
                <a:spcPts val="800"/>
              </a:spcAft>
              <a:defRPr sz="1200">
                <a:solidFill>
                  <a:srgbClr val="F8FAFC"/>
                </a:solidFill>
                <a:latin typeface="Calibri"/>
              </a:defRPr>
            </a:pPr>
            <a:r>
              <a:t>• Creates 3 public subnets (for internet ingress) and 3 private subnets (for worker nodes).</a:t>
            </a:r>
          </a:p>
          <a:p>
            <a:pPr>
              <a:spcAft>
                <a:spcPts val="800"/>
              </a:spcAft>
              <a:defRPr sz="1200">
                <a:solidFill>
                  <a:srgbClr val="F8FAFC"/>
                </a:solidFill>
                <a:latin typeface="Calibri"/>
              </a:defRPr>
            </a:pPr>
            <a:r>
              <a:t>• Includes a NAT Gateway so private worker nodes can safely pull container images.</a:t>
            </a:r>
          </a:p>
          <a:p>
            <a:pPr>
              <a:spcAft>
                <a:spcPts val="800"/>
              </a:spcAft>
              <a:defRPr sz="1200">
                <a:solidFill>
                  <a:srgbClr val="F8FAFC"/>
                </a:solidFill>
                <a:latin typeface="Calibri"/>
              </a:defRPr>
            </a:pPr>
            <a:r>
              <a:t>• Tagged with kubernetes.io/role/elb so AWS can automatically manage load balancers.</a:t>
            </a:r>
          </a:p>
        </p:txBody>
      </p:sp>
      <p:sp>
        <p:nvSpPr>
          <p:cNvPr id="11" name="Rounded Rectangle 10"/>
          <p:cNvSpPr/>
          <p:nvPr/>
        </p:nvSpPr>
        <p:spPr>
          <a:xfrm>
            <a:off x="4383938" y="1874519"/>
            <a:ext cx="3423818" cy="4434840"/>
          </a:xfrm>
          <a:prstGeom prst="roundRect">
            <a:avLst/>
          </a:prstGeom>
          <a:solidFill>
            <a:srgbClr val="0F172A"/>
          </a:solidFill>
          <a:ln w="1270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21098" y="2011679"/>
            <a:ext cx="3149498" cy="411480"/>
          </a:xfrm>
          <a:prstGeom prst="rect">
            <a:avLst/>
          </a:prstGeom>
          <a:noFill/>
        </p:spPr>
        <p:txBody>
          <a:bodyPr wrap="square">
            <a:spAutoFit/>
          </a:bodyPr>
          <a:lstStyle/>
          <a:p>
            <a:pPr>
              <a:defRPr sz="1400" b="1">
                <a:solidFill>
                  <a:srgbClr val="10B981"/>
                </a:solidFill>
                <a:latin typeface="Arial"/>
              </a:defRPr>
            </a:pPr>
            <a:r>
              <a:t>Compute: EKS Cluster (eks.tf &amp; addons.tf)</a:t>
            </a:r>
          </a:p>
        </p:txBody>
      </p:sp>
      <p:sp>
        <p:nvSpPr>
          <p:cNvPr id="13" name="TextBox 12"/>
          <p:cNvSpPr txBox="1"/>
          <p:nvPr/>
        </p:nvSpPr>
        <p:spPr>
          <a:xfrm>
            <a:off x="4521098" y="2468879"/>
            <a:ext cx="3149498" cy="3703320"/>
          </a:xfrm>
          <a:prstGeom prst="rect">
            <a:avLst/>
          </a:prstGeom>
          <a:noFill/>
        </p:spPr>
        <p:txBody>
          <a:bodyPr wrap="square">
            <a:spAutoFit/>
          </a:bodyPr>
          <a:lstStyle/>
          <a:p>
            <a:pPr>
              <a:spcAft>
                <a:spcPts val="800"/>
              </a:spcAft>
              <a:defRPr sz="1200">
                <a:solidFill>
                  <a:srgbClr val="F8FAFC"/>
                </a:solidFill>
                <a:latin typeface="Calibri"/>
              </a:defRPr>
            </a:pPr>
            <a:r>
              <a:t>• Deploys a managed Kubernetes v1.30 control plane with managed node groups.</a:t>
            </a:r>
          </a:p>
          <a:p>
            <a:pPr>
              <a:spcAft>
                <a:spcPts val="800"/>
              </a:spcAft>
              <a:defRPr sz="1200">
                <a:solidFill>
                  <a:srgbClr val="F8FAFC"/>
                </a:solidFill>
                <a:latin typeface="Calibri"/>
              </a:defRPr>
            </a:pPr>
            <a:r>
              <a:t>• Worker nodes: 2 to 4 t3.medium EC2 instances distributed across private subnets.</a:t>
            </a:r>
          </a:p>
          <a:p>
            <a:pPr>
              <a:spcAft>
                <a:spcPts val="800"/>
              </a:spcAft>
              <a:defRPr sz="1200">
                <a:solidFill>
                  <a:srgbClr val="F8FAFC"/>
                </a:solidFill>
                <a:latin typeface="Calibri"/>
              </a:defRPr>
            </a:pPr>
            <a:r>
              <a:t>• Add-on 1: AWS EBS CSI driver—required so PostgreSQL can attach persistent disk volumes.</a:t>
            </a:r>
          </a:p>
          <a:p>
            <a:pPr>
              <a:spcAft>
                <a:spcPts val="800"/>
              </a:spcAft>
              <a:defRPr sz="1200">
                <a:solidFill>
                  <a:srgbClr val="F8FAFC"/>
                </a:solidFill>
                <a:latin typeface="Calibri"/>
              </a:defRPr>
            </a:pPr>
            <a:r>
              <a:t>• Add-on 2: Metrics Server—required so the Horizontal Pod Autoscaler can read CPU usage.</a:t>
            </a:r>
          </a:p>
        </p:txBody>
      </p:sp>
      <p:sp>
        <p:nvSpPr>
          <p:cNvPr id="14" name="Rounded Rectangle 13"/>
          <p:cNvSpPr/>
          <p:nvPr/>
        </p:nvSpPr>
        <p:spPr>
          <a:xfrm>
            <a:off x="8036356" y="1874519"/>
            <a:ext cx="3423818" cy="4434840"/>
          </a:xfrm>
          <a:prstGeom prst="roundRect">
            <a:avLst/>
          </a:prstGeom>
          <a:solidFill>
            <a:srgbClr val="0F172A"/>
          </a:solidFill>
          <a:ln w="1270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173516" y="2011679"/>
            <a:ext cx="3149498" cy="411480"/>
          </a:xfrm>
          <a:prstGeom prst="rect">
            <a:avLst/>
          </a:prstGeom>
          <a:noFill/>
        </p:spPr>
        <p:txBody>
          <a:bodyPr wrap="square">
            <a:spAutoFit/>
          </a:bodyPr>
          <a:lstStyle/>
          <a:p>
            <a:pPr>
              <a:defRPr sz="1400" b="1">
                <a:solidFill>
                  <a:srgbClr val="F59E0B"/>
                </a:solidFill>
                <a:latin typeface="Arial"/>
              </a:defRPr>
            </a:pPr>
            <a:r>
              <a:t>Honest Cloud Status &amp; Teardown Runbook</a:t>
            </a:r>
          </a:p>
        </p:txBody>
      </p:sp>
      <p:sp>
        <p:nvSpPr>
          <p:cNvPr id="16" name="TextBox 15"/>
          <p:cNvSpPr txBox="1"/>
          <p:nvPr/>
        </p:nvSpPr>
        <p:spPr>
          <a:xfrm>
            <a:off x="8173516" y="2468879"/>
            <a:ext cx="3149498" cy="3703320"/>
          </a:xfrm>
          <a:prstGeom prst="rect">
            <a:avLst/>
          </a:prstGeom>
          <a:noFill/>
        </p:spPr>
        <p:txBody>
          <a:bodyPr wrap="square">
            <a:spAutoFit/>
          </a:bodyPr>
          <a:lstStyle/>
          <a:p>
            <a:pPr>
              <a:spcAft>
                <a:spcPts val="800"/>
              </a:spcAft>
              <a:defRPr sz="1200">
                <a:solidFill>
                  <a:srgbClr val="F8FAFC"/>
                </a:solidFill>
                <a:latin typeface="Calibri"/>
              </a:defRPr>
            </a:pPr>
            <a:r>
              <a:t>• Status: Terraform files are written, formatted, and validated with terraform validate.</a:t>
            </a:r>
          </a:p>
          <a:p>
            <a:pPr>
              <a:spcAft>
                <a:spcPts val="800"/>
              </a:spcAft>
              <a:defRPr sz="1200">
                <a:solidFill>
                  <a:srgbClr val="F8FAFC"/>
                </a:solidFill>
                <a:latin typeface="Calibri"/>
              </a:defRPr>
            </a:pPr>
            <a:r>
              <a:t>• Cost Note: EKS and NAT Gateways cost ~$0.15/hour, so this was not left permanently running on AWS.</a:t>
            </a:r>
          </a:p>
          <a:p>
            <a:pPr>
              <a:spcAft>
                <a:spcPts val="800"/>
              </a:spcAft>
              <a:defRPr sz="1200">
                <a:solidFill>
                  <a:srgbClr val="F8FAFC"/>
                </a:solidFill>
                <a:latin typeface="Calibri"/>
              </a:defRPr>
            </a:pPr>
            <a:r>
              <a:t>• Safety: Provided a complete terraform destroy runbook in terraform/README.md for clean teardown.</a:t>
            </a:r>
          </a:p>
        </p:txBody>
      </p:sp>
      <p:sp>
        <p:nvSpPr>
          <p:cNvPr id="17" name="TextBox 16"/>
          <p:cNvSpPr txBox="1"/>
          <p:nvPr/>
        </p:nvSpPr>
        <p:spPr>
          <a:xfrm>
            <a:off x="731520" y="6446520"/>
            <a:ext cx="10728655" cy="274320"/>
          </a:xfrm>
          <a:prstGeom prst="rect">
            <a:avLst/>
          </a:prstGeom>
          <a:noFill/>
        </p:spPr>
        <p:txBody>
          <a:bodyPr wrap="none">
            <a:spAutoFit/>
          </a:bodyPr>
          <a:lstStyle/>
          <a:p>
            <a:pPr>
              <a:defRPr sz="900">
                <a:solidFill>
                  <a:srgbClr val="94A3B8"/>
                </a:solidFill>
                <a:latin typeface="Arial"/>
              </a:defRPr>
            </a:pPr>
            <a:r>
              <a:t>PodiumHQ DevSecOps Capstone Presentation • Verified Codebase &amp; Realistic Engineering</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80C14"/>
          </a:solidFill>
          <a:ln>
            <a:solidFill>
              <a:srgbClr val="080C1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0" y="365760"/>
            <a:ext cx="10728655" cy="54864"/>
          </a:xfrm>
          <a:prstGeom prst="rect">
            <a:avLst/>
          </a:prstGeom>
          <a:solidFill>
            <a:srgbClr val="F59E0B"/>
          </a:solidFill>
          <a:ln>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502920"/>
            <a:ext cx="5486400" cy="320040"/>
          </a:xfrm>
          <a:prstGeom prst="rect">
            <a:avLst/>
          </a:prstGeom>
          <a:noFill/>
        </p:spPr>
        <p:txBody>
          <a:bodyPr wrap="none">
            <a:spAutoFit/>
          </a:bodyPr>
          <a:lstStyle/>
          <a:p>
            <a:pPr>
              <a:defRPr sz="1000" b="1">
                <a:solidFill>
                  <a:srgbClr val="F59E0B"/>
                </a:solidFill>
                <a:latin typeface="Arial"/>
              </a:defRPr>
            </a:pPr>
            <a:r>
              <a:t>STUDENT PRESENTATION • KUBERNETES &amp; HELM</a:t>
            </a:r>
          </a:p>
        </p:txBody>
      </p:sp>
      <p:sp>
        <p:nvSpPr>
          <p:cNvPr id="5" name="TextBox 4"/>
          <p:cNvSpPr txBox="1"/>
          <p:nvPr/>
        </p:nvSpPr>
        <p:spPr>
          <a:xfrm>
            <a:off x="8686800" y="502920"/>
            <a:ext cx="2743200" cy="320040"/>
          </a:xfrm>
          <a:prstGeom prst="rect">
            <a:avLst/>
          </a:prstGeom>
          <a:noFill/>
        </p:spPr>
        <p:txBody>
          <a:bodyPr wrap="none">
            <a:spAutoFit/>
          </a:bodyPr>
          <a:lstStyle/>
          <a:p>
            <a:pPr algn="r">
              <a:defRPr sz="1000" b="1">
                <a:solidFill>
                  <a:srgbClr val="94A3B8"/>
                </a:solidFill>
                <a:latin typeface="Arial"/>
              </a:defRPr>
            </a:pPr>
            <a:r>
              <a:t>SLIDE 6 OF 10</a:t>
            </a:r>
          </a:p>
        </p:txBody>
      </p:sp>
      <p:sp>
        <p:nvSpPr>
          <p:cNvPr id="6" name="TextBox 5"/>
          <p:cNvSpPr txBox="1"/>
          <p:nvPr/>
        </p:nvSpPr>
        <p:spPr>
          <a:xfrm>
            <a:off x="731520" y="777240"/>
            <a:ext cx="10728655" cy="594360"/>
          </a:xfrm>
          <a:prstGeom prst="rect">
            <a:avLst/>
          </a:prstGeom>
          <a:noFill/>
        </p:spPr>
        <p:txBody>
          <a:bodyPr wrap="square">
            <a:spAutoFit/>
          </a:bodyPr>
          <a:lstStyle/>
          <a:p>
            <a:pPr>
              <a:defRPr sz="2400" b="1">
                <a:solidFill>
                  <a:srgbClr val="F8FAFC"/>
                </a:solidFill>
                <a:latin typeface="Arial"/>
              </a:defRPr>
            </a:pPr>
            <a:r>
              <a:t>Kubernetes &amp; Helm: Packaging Workloads</a:t>
            </a:r>
          </a:p>
        </p:txBody>
      </p:sp>
      <p:sp>
        <p:nvSpPr>
          <p:cNvPr id="7" name="TextBox 6"/>
          <p:cNvSpPr txBox="1"/>
          <p:nvPr/>
        </p:nvSpPr>
        <p:spPr>
          <a:xfrm>
            <a:off x="731520" y="1325880"/>
            <a:ext cx="10728655" cy="411480"/>
          </a:xfrm>
          <a:prstGeom prst="rect">
            <a:avLst/>
          </a:prstGeom>
          <a:noFill/>
        </p:spPr>
        <p:txBody>
          <a:bodyPr wrap="square">
            <a:spAutoFit/>
          </a:bodyPr>
          <a:lstStyle/>
          <a:p>
            <a:pPr>
              <a:defRPr sz="1300">
                <a:solidFill>
                  <a:srgbClr val="10B981"/>
                </a:solidFill>
                <a:latin typeface="Arial"/>
              </a:defRPr>
            </a:pPr>
            <a:r>
              <a:t>Managing application deployments, services, scaling, and database migrations</a:t>
            </a:r>
          </a:p>
        </p:txBody>
      </p:sp>
      <p:sp>
        <p:nvSpPr>
          <p:cNvPr id="8" name="Rounded Rectangle 7"/>
          <p:cNvSpPr/>
          <p:nvPr/>
        </p:nvSpPr>
        <p:spPr>
          <a:xfrm>
            <a:off x="731520" y="1874519"/>
            <a:ext cx="3423818" cy="4434840"/>
          </a:xfrm>
          <a:prstGeom prst="roundRect">
            <a:avLst/>
          </a:prstGeom>
          <a:solidFill>
            <a:srgbClr val="0F172A"/>
          </a:solidFill>
          <a:ln w="1270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68680" y="2011679"/>
            <a:ext cx="3149498" cy="411480"/>
          </a:xfrm>
          <a:prstGeom prst="rect">
            <a:avLst/>
          </a:prstGeom>
          <a:noFill/>
        </p:spPr>
        <p:txBody>
          <a:bodyPr wrap="square">
            <a:spAutoFit/>
          </a:bodyPr>
          <a:lstStyle/>
          <a:p>
            <a:pPr>
              <a:defRPr sz="1400" b="1">
                <a:solidFill>
                  <a:srgbClr val="38BDF8"/>
                </a:solidFill>
                <a:latin typeface="Arial"/>
              </a:defRPr>
            </a:pPr>
            <a:r>
              <a:t>Workloads &amp; High Availability</a:t>
            </a:r>
          </a:p>
        </p:txBody>
      </p:sp>
      <p:sp>
        <p:nvSpPr>
          <p:cNvPr id="10" name="TextBox 9"/>
          <p:cNvSpPr txBox="1"/>
          <p:nvPr/>
        </p:nvSpPr>
        <p:spPr>
          <a:xfrm>
            <a:off x="868680" y="2468879"/>
            <a:ext cx="3149498" cy="3703320"/>
          </a:xfrm>
          <a:prstGeom prst="rect">
            <a:avLst/>
          </a:prstGeom>
          <a:noFill/>
        </p:spPr>
        <p:txBody>
          <a:bodyPr wrap="square">
            <a:spAutoFit/>
          </a:bodyPr>
          <a:lstStyle/>
          <a:p>
            <a:pPr>
              <a:spcAft>
                <a:spcPts val="800"/>
              </a:spcAft>
              <a:defRPr sz="1200">
                <a:solidFill>
                  <a:srgbClr val="F8FAFC"/>
                </a:solidFill>
                <a:latin typeface="Calibri"/>
              </a:defRPr>
            </a:pPr>
            <a:r>
              <a:t>• Packaged as a Helm chart in helm/podiumhq with values-dev and values-prod.</a:t>
            </a:r>
          </a:p>
          <a:p>
            <a:pPr>
              <a:spcAft>
                <a:spcPts val="800"/>
              </a:spcAft>
              <a:defRPr sz="1200">
                <a:solidFill>
                  <a:srgbClr val="F8FAFC"/>
                </a:solidFill>
                <a:latin typeface="Calibri"/>
              </a:defRPr>
            </a:pPr>
            <a:r>
              <a:t>• Backend &amp; Frontend Deployments: 2 replicas each with RollingUpdate strategy.</a:t>
            </a:r>
          </a:p>
          <a:p>
            <a:pPr>
              <a:spcAft>
                <a:spcPts val="800"/>
              </a:spcAft>
              <a:defRPr sz="1200">
                <a:solidFill>
                  <a:srgbClr val="F8FAFC"/>
                </a:solidFill>
                <a:latin typeface="Calibri"/>
              </a:defRPr>
            </a:pPr>
            <a:r>
              <a:t>• PodDisruptionBudget (PDB): Guarantees at least 1 backend pod stays online during node updates.</a:t>
            </a:r>
          </a:p>
          <a:p>
            <a:pPr>
              <a:spcAft>
                <a:spcPts val="800"/>
              </a:spcAft>
              <a:defRPr sz="1200">
                <a:solidFill>
                  <a:srgbClr val="F8FAFC"/>
                </a:solidFill>
                <a:latin typeface="Calibri"/>
              </a:defRPr>
            </a:pPr>
            <a:r>
              <a:t>• Horizontal Pod Autoscaler (HPA): Automatically scales backend from 2 to 6 pods when CPU &gt; 60%.</a:t>
            </a:r>
          </a:p>
        </p:txBody>
      </p:sp>
      <p:sp>
        <p:nvSpPr>
          <p:cNvPr id="11" name="Rounded Rectangle 10"/>
          <p:cNvSpPr/>
          <p:nvPr/>
        </p:nvSpPr>
        <p:spPr>
          <a:xfrm>
            <a:off x="4383938" y="1874519"/>
            <a:ext cx="3423818" cy="4434840"/>
          </a:xfrm>
          <a:prstGeom prst="roundRect">
            <a:avLst/>
          </a:prstGeom>
          <a:solidFill>
            <a:srgbClr val="0F172A"/>
          </a:solidFill>
          <a:ln w="1270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21098" y="2011679"/>
            <a:ext cx="3149498" cy="411480"/>
          </a:xfrm>
          <a:prstGeom prst="rect">
            <a:avLst/>
          </a:prstGeom>
          <a:noFill/>
        </p:spPr>
        <p:txBody>
          <a:bodyPr wrap="square">
            <a:spAutoFit/>
          </a:bodyPr>
          <a:lstStyle/>
          <a:p>
            <a:pPr>
              <a:defRPr sz="1400" b="1">
                <a:solidFill>
                  <a:srgbClr val="10B981"/>
                </a:solidFill>
                <a:latin typeface="Arial"/>
              </a:defRPr>
            </a:pPr>
            <a:r>
              <a:t>Container Security in Kubernetes</a:t>
            </a:r>
          </a:p>
        </p:txBody>
      </p:sp>
      <p:sp>
        <p:nvSpPr>
          <p:cNvPr id="13" name="TextBox 12"/>
          <p:cNvSpPr txBox="1"/>
          <p:nvPr/>
        </p:nvSpPr>
        <p:spPr>
          <a:xfrm>
            <a:off x="4521098" y="2468879"/>
            <a:ext cx="3149498" cy="3703320"/>
          </a:xfrm>
          <a:prstGeom prst="rect">
            <a:avLst/>
          </a:prstGeom>
          <a:noFill/>
        </p:spPr>
        <p:txBody>
          <a:bodyPr wrap="square">
            <a:spAutoFit/>
          </a:bodyPr>
          <a:lstStyle/>
          <a:p>
            <a:pPr>
              <a:spcAft>
                <a:spcPts val="800"/>
              </a:spcAft>
              <a:defRPr sz="1200">
                <a:solidFill>
                  <a:srgbClr val="F8FAFC"/>
                </a:solidFill>
                <a:latin typeface="Calibri"/>
              </a:defRPr>
            </a:pPr>
            <a:r>
              <a:t>• Enforces securityContext on all pods: runAsNonRoot: true.</a:t>
            </a:r>
          </a:p>
          <a:p>
            <a:pPr>
              <a:spcAft>
                <a:spcPts val="800"/>
              </a:spcAft>
              <a:defRPr sz="1200">
                <a:solidFill>
                  <a:srgbClr val="F8FAFC"/>
                </a:solidFill>
                <a:latin typeface="Calibri"/>
              </a:defRPr>
            </a:pPr>
            <a:r>
              <a:t>• Backend runs as UID 10001; Frontend runs as Nginx UID 101.</a:t>
            </a:r>
          </a:p>
          <a:p>
            <a:pPr>
              <a:spcAft>
                <a:spcPts val="800"/>
              </a:spcAft>
              <a:defRPr sz="1200">
                <a:solidFill>
                  <a:srgbClr val="F8FAFC"/>
                </a:solidFill>
                <a:latin typeface="Calibri"/>
              </a:defRPr>
            </a:pPr>
            <a:r>
              <a:t>• Drops all Linux capabilities (capabilities: drop: [ALL]) to limit attack surface.</a:t>
            </a:r>
          </a:p>
          <a:p>
            <a:pPr>
              <a:spcAft>
                <a:spcPts val="800"/>
              </a:spcAft>
              <a:defRPr sz="1200">
                <a:solidFill>
                  <a:srgbClr val="F8FAFC"/>
                </a:solidFill>
                <a:latin typeface="Calibri"/>
              </a:defRPr>
            </a:pPr>
            <a:r>
              <a:t>• Ingress routes / to frontend, and /api, /health, /ready, /metrics to backend.</a:t>
            </a:r>
          </a:p>
        </p:txBody>
      </p:sp>
      <p:sp>
        <p:nvSpPr>
          <p:cNvPr id="14" name="Rounded Rectangle 13"/>
          <p:cNvSpPr/>
          <p:nvPr/>
        </p:nvSpPr>
        <p:spPr>
          <a:xfrm>
            <a:off x="8036356" y="1874519"/>
            <a:ext cx="3423818" cy="4434840"/>
          </a:xfrm>
          <a:prstGeom prst="roundRect">
            <a:avLst/>
          </a:prstGeom>
          <a:solidFill>
            <a:srgbClr val="0F172A"/>
          </a:solidFill>
          <a:ln w="1270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173516" y="2011679"/>
            <a:ext cx="3149498" cy="411480"/>
          </a:xfrm>
          <a:prstGeom prst="rect">
            <a:avLst/>
          </a:prstGeom>
          <a:noFill/>
        </p:spPr>
        <p:txBody>
          <a:bodyPr wrap="square">
            <a:spAutoFit/>
          </a:bodyPr>
          <a:lstStyle/>
          <a:p>
            <a:pPr>
              <a:defRPr sz="1400" b="1">
                <a:solidFill>
                  <a:srgbClr val="F59E0B"/>
                </a:solidFill>
                <a:latin typeface="Arial"/>
              </a:defRPr>
            </a:pPr>
            <a:r>
              <a:t>Database Migration Job Hook</a:t>
            </a:r>
          </a:p>
        </p:txBody>
      </p:sp>
      <p:sp>
        <p:nvSpPr>
          <p:cNvPr id="16" name="TextBox 15"/>
          <p:cNvSpPr txBox="1"/>
          <p:nvPr/>
        </p:nvSpPr>
        <p:spPr>
          <a:xfrm>
            <a:off x="8173516" y="2468879"/>
            <a:ext cx="3149498" cy="3703320"/>
          </a:xfrm>
          <a:prstGeom prst="rect">
            <a:avLst/>
          </a:prstGeom>
          <a:noFill/>
        </p:spPr>
        <p:txBody>
          <a:bodyPr wrap="square">
            <a:spAutoFit/>
          </a:bodyPr>
          <a:lstStyle/>
          <a:p>
            <a:pPr>
              <a:spcAft>
                <a:spcPts val="800"/>
              </a:spcAft>
              <a:defRPr sz="1200">
                <a:solidFill>
                  <a:srgbClr val="F8FAFC"/>
                </a:solidFill>
                <a:latin typeface="Calibri"/>
              </a:defRPr>
            </a:pPr>
            <a:r>
              <a:t>• The Problem: When 2+ backend pods boot at the same time, they race to run database migrations.</a:t>
            </a:r>
          </a:p>
          <a:p>
            <a:pPr>
              <a:spcAft>
                <a:spcPts val="800"/>
              </a:spcAft>
              <a:defRPr sz="1200">
                <a:solidFill>
                  <a:srgbClr val="F8FAFC"/>
                </a:solidFill>
                <a:latin typeface="Calibri"/>
              </a:defRPr>
            </a:pPr>
            <a:r>
              <a:t>• The Solution: Created a Helm pre-upgrade/pre-install Job hook (migration-job.yaml).</a:t>
            </a:r>
          </a:p>
          <a:p>
            <a:pPr>
              <a:spcAft>
                <a:spcPts val="800"/>
              </a:spcAft>
              <a:defRPr sz="1200">
                <a:solidFill>
                  <a:srgbClr val="F8FAFC"/>
                </a:solidFill>
                <a:latin typeface="Calibri"/>
              </a:defRPr>
            </a:pPr>
            <a:r>
              <a:t>• Alembic migrations run to completion first in an isolated job; application pods start only after it succeeds.</a:t>
            </a:r>
          </a:p>
        </p:txBody>
      </p:sp>
      <p:sp>
        <p:nvSpPr>
          <p:cNvPr id="17" name="TextBox 16"/>
          <p:cNvSpPr txBox="1"/>
          <p:nvPr/>
        </p:nvSpPr>
        <p:spPr>
          <a:xfrm>
            <a:off x="731520" y="6446520"/>
            <a:ext cx="10728655" cy="274320"/>
          </a:xfrm>
          <a:prstGeom prst="rect">
            <a:avLst/>
          </a:prstGeom>
          <a:noFill/>
        </p:spPr>
        <p:txBody>
          <a:bodyPr wrap="none">
            <a:spAutoFit/>
          </a:bodyPr>
          <a:lstStyle/>
          <a:p>
            <a:pPr>
              <a:defRPr sz="900">
                <a:solidFill>
                  <a:srgbClr val="94A3B8"/>
                </a:solidFill>
                <a:latin typeface="Arial"/>
              </a:defRPr>
            </a:pPr>
            <a:r>
              <a:t>PodiumHQ DevSecOps Capstone Presentation • Verified Codebase &amp; Realistic Engineering</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80C14"/>
          </a:solidFill>
          <a:ln>
            <a:solidFill>
              <a:srgbClr val="080C1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0" y="365760"/>
            <a:ext cx="10728655" cy="54864"/>
          </a:xfrm>
          <a:prstGeom prst="rect">
            <a:avLst/>
          </a:prstGeom>
          <a:solidFill>
            <a:srgbClr val="F59E0B"/>
          </a:solidFill>
          <a:ln>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502920"/>
            <a:ext cx="5486400" cy="320040"/>
          </a:xfrm>
          <a:prstGeom prst="rect">
            <a:avLst/>
          </a:prstGeom>
          <a:noFill/>
        </p:spPr>
        <p:txBody>
          <a:bodyPr wrap="none">
            <a:spAutoFit/>
          </a:bodyPr>
          <a:lstStyle/>
          <a:p>
            <a:pPr>
              <a:defRPr sz="1000" b="1">
                <a:solidFill>
                  <a:srgbClr val="F59E0B"/>
                </a:solidFill>
                <a:latin typeface="Arial"/>
              </a:defRPr>
            </a:pPr>
            <a:r>
              <a:t>STUDENT PRESENTATION • GITOPS CONTINUOUS DELIVERY</a:t>
            </a:r>
          </a:p>
        </p:txBody>
      </p:sp>
      <p:sp>
        <p:nvSpPr>
          <p:cNvPr id="5" name="TextBox 4"/>
          <p:cNvSpPr txBox="1"/>
          <p:nvPr/>
        </p:nvSpPr>
        <p:spPr>
          <a:xfrm>
            <a:off x="8686800" y="502920"/>
            <a:ext cx="2743200" cy="320040"/>
          </a:xfrm>
          <a:prstGeom prst="rect">
            <a:avLst/>
          </a:prstGeom>
          <a:noFill/>
        </p:spPr>
        <p:txBody>
          <a:bodyPr wrap="none">
            <a:spAutoFit/>
          </a:bodyPr>
          <a:lstStyle/>
          <a:p>
            <a:pPr algn="r">
              <a:defRPr sz="1000" b="1">
                <a:solidFill>
                  <a:srgbClr val="94A3B8"/>
                </a:solidFill>
                <a:latin typeface="Arial"/>
              </a:defRPr>
            </a:pPr>
            <a:r>
              <a:t>SLIDE 7 OF 10</a:t>
            </a:r>
          </a:p>
        </p:txBody>
      </p:sp>
      <p:sp>
        <p:nvSpPr>
          <p:cNvPr id="6" name="TextBox 5"/>
          <p:cNvSpPr txBox="1"/>
          <p:nvPr/>
        </p:nvSpPr>
        <p:spPr>
          <a:xfrm>
            <a:off x="731520" y="777240"/>
            <a:ext cx="10728655" cy="594360"/>
          </a:xfrm>
          <a:prstGeom prst="rect">
            <a:avLst/>
          </a:prstGeom>
          <a:noFill/>
        </p:spPr>
        <p:txBody>
          <a:bodyPr wrap="square">
            <a:spAutoFit/>
          </a:bodyPr>
          <a:lstStyle/>
          <a:p>
            <a:pPr>
              <a:defRPr sz="2400" b="1">
                <a:solidFill>
                  <a:srgbClr val="F8FAFC"/>
                </a:solidFill>
                <a:latin typeface="Arial"/>
              </a:defRPr>
            </a:pPr>
            <a:r>
              <a:t>GitOps with ArgoCD: Declarative Delivery</a:t>
            </a:r>
          </a:p>
        </p:txBody>
      </p:sp>
      <p:sp>
        <p:nvSpPr>
          <p:cNvPr id="7" name="TextBox 6"/>
          <p:cNvSpPr txBox="1"/>
          <p:nvPr/>
        </p:nvSpPr>
        <p:spPr>
          <a:xfrm>
            <a:off x="731520" y="1325880"/>
            <a:ext cx="10728655" cy="411480"/>
          </a:xfrm>
          <a:prstGeom prst="rect">
            <a:avLst/>
          </a:prstGeom>
          <a:noFill/>
        </p:spPr>
        <p:txBody>
          <a:bodyPr wrap="square">
            <a:spAutoFit/>
          </a:bodyPr>
          <a:lstStyle/>
          <a:p>
            <a:pPr>
              <a:defRPr sz="1300">
                <a:solidFill>
                  <a:srgbClr val="10B981"/>
                </a:solidFill>
                <a:latin typeface="Arial"/>
              </a:defRPr>
            </a:pPr>
            <a:r>
              <a:t>Using Git as the single source of truth for cluster state and self-healing</a:t>
            </a:r>
          </a:p>
        </p:txBody>
      </p:sp>
      <p:sp>
        <p:nvSpPr>
          <p:cNvPr id="8" name="Rounded Rectangle 7"/>
          <p:cNvSpPr/>
          <p:nvPr/>
        </p:nvSpPr>
        <p:spPr>
          <a:xfrm>
            <a:off x="731520" y="1874519"/>
            <a:ext cx="3423818" cy="4434840"/>
          </a:xfrm>
          <a:prstGeom prst="roundRect">
            <a:avLst/>
          </a:prstGeom>
          <a:solidFill>
            <a:srgbClr val="0F172A"/>
          </a:solidFill>
          <a:ln w="1270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68680" y="2011679"/>
            <a:ext cx="3149498" cy="411480"/>
          </a:xfrm>
          <a:prstGeom prst="rect">
            <a:avLst/>
          </a:prstGeom>
          <a:noFill/>
        </p:spPr>
        <p:txBody>
          <a:bodyPr wrap="square">
            <a:spAutoFit/>
          </a:bodyPr>
          <a:lstStyle/>
          <a:p>
            <a:pPr>
              <a:defRPr sz="1400" b="1">
                <a:solidFill>
                  <a:srgbClr val="38BDF8"/>
                </a:solidFill>
                <a:latin typeface="Arial"/>
              </a:defRPr>
            </a:pPr>
            <a:r>
              <a:t>What is GitOps &amp; Why ArgoCD?</a:t>
            </a:r>
          </a:p>
        </p:txBody>
      </p:sp>
      <p:sp>
        <p:nvSpPr>
          <p:cNvPr id="10" name="TextBox 9"/>
          <p:cNvSpPr txBox="1"/>
          <p:nvPr/>
        </p:nvSpPr>
        <p:spPr>
          <a:xfrm>
            <a:off x="868680" y="2468879"/>
            <a:ext cx="3149498" cy="3703320"/>
          </a:xfrm>
          <a:prstGeom prst="rect">
            <a:avLst/>
          </a:prstGeom>
          <a:noFill/>
        </p:spPr>
        <p:txBody>
          <a:bodyPr wrap="square">
            <a:spAutoFit/>
          </a:bodyPr>
          <a:lstStyle/>
          <a:p>
            <a:pPr>
              <a:spcAft>
                <a:spcPts val="800"/>
              </a:spcAft>
              <a:defRPr sz="1200">
                <a:solidFill>
                  <a:srgbClr val="F8FAFC"/>
                </a:solidFill>
                <a:latin typeface="Calibri"/>
              </a:defRPr>
            </a:pPr>
            <a:r>
              <a:t>• Concept: Instead of engineers running manual kubectl apply, Git holds the desired state.</a:t>
            </a:r>
          </a:p>
          <a:p>
            <a:pPr>
              <a:spcAft>
                <a:spcPts val="800"/>
              </a:spcAft>
              <a:defRPr sz="1200">
                <a:solidFill>
                  <a:srgbClr val="F8FAFC"/>
                </a:solidFill>
                <a:latin typeface="Calibri"/>
              </a:defRPr>
            </a:pPr>
            <a:r>
              <a:t>• ArgoCD controller runs inside the cluster and constantly compares live state against Git.</a:t>
            </a:r>
          </a:p>
          <a:p>
            <a:pPr>
              <a:spcAft>
                <a:spcPts val="800"/>
              </a:spcAft>
              <a:defRPr sz="1200">
                <a:solidFill>
                  <a:srgbClr val="F8FAFC"/>
                </a:solidFill>
                <a:latin typeface="Calibri"/>
              </a:defRPr>
            </a:pPr>
            <a:r>
              <a:t>• Configured in argocd/application.yaml watching the helm/podiumhq chart in this repo.</a:t>
            </a:r>
          </a:p>
        </p:txBody>
      </p:sp>
      <p:sp>
        <p:nvSpPr>
          <p:cNvPr id="11" name="Rounded Rectangle 10"/>
          <p:cNvSpPr/>
          <p:nvPr/>
        </p:nvSpPr>
        <p:spPr>
          <a:xfrm>
            <a:off x="4383938" y="1874519"/>
            <a:ext cx="3423818" cy="4434840"/>
          </a:xfrm>
          <a:prstGeom prst="roundRect">
            <a:avLst/>
          </a:prstGeom>
          <a:solidFill>
            <a:srgbClr val="0F172A"/>
          </a:solidFill>
          <a:ln w="1270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21098" y="2011679"/>
            <a:ext cx="3149498" cy="411480"/>
          </a:xfrm>
          <a:prstGeom prst="rect">
            <a:avLst/>
          </a:prstGeom>
          <a:noFill/>
        </p:spPr>
        <p:txBody>
          <a:bodyPr wrap="square">
            <a:spAutoFit/>
          </a:bodyPr>
          <a:lstStyle/>
          <a:p>
            <a:pPr>
              <a:defRPr sz="1400" b="1">
                <a:solidFill>
                  <a:srgbClr val="10B981"/>
                </a:solidFill>
                <a:latin typeface="Arial"/>
              </a:defRPr>
            </a:pPr>
            <a:r>
              <a:t>Automated Sync &amp; Pruning</a:t>
            </a:r>
          </a:p>
        </p:txBody>
      </p:sp>
      <p:sp>
        <p:nvSpPr>
          <p:cNvPr id="13" name="TextBox 12"/>
          <p:cNvSpPr txBox="1"/>
          <p:nvPr/>
        </p:nvSpPr>
        <p:spPr>
          <a:xfrm>
            <a:off x="4521098" y="2468879"/>
            <a:ext cx="3149498" cy="3703320"/>
          </a:xfrm>
          <a:prstGeom prst="rect">
            <a:avLst/>
          </a:prstGeom>
          <a:noFill/>
        </p:spPr>
        <p:txBody>
          <a:bodyPr wrap="square">
            <a:spAutoFit/>
          </a:bodyPr>
          <a:lstStyle/>
          <a:p>
            <a:pPr>
              <a:spcAft>
                <a:spcPts val="800"/>
              </a:spcAft>
              <a:defRPr sz="1200">
                <a:solidFill>
                  <a:srgbClr val="F8FAFC"/>
                </a:solidFill>
                <a:latin typeface="Calibri"/>
              </a:defRPr>
            </a:pPr>
            <a:r>
              <a:t>• Automated Sync: When CI updates the image tag in Git, ArgoCD automatically applies the change.</a:t>
            </a:r>
          </a:p>
          <a:p>
            <a:pPr>
              <a:spcAft>
                <a:spcPts val="800"/>
              </a:spcAft>
              <a:defRPr sz="1200">
                <a:solidFill>
                  <a:srgbClr val="F8FAFC"/>
                </a:solidFill>
                <a:latin typeface="Calibri"/>
              </a:defRPr>
            </a:pPr>
            <a:r>
              <a:t>• Automated Pruning (prune: true): Removes old deleted resources from the cluster automatically.</a:t>
            </a:r>
          </a:p>
          <a:p>
            <a:pPr>
              <a:spcAft>
                <a:spcPts val="800"/>
              </a:spcAft>
              <a:defRPr sz="1200">
                <a:solidFill>
                  <a:srgbClr val="F8FAFC"/>
                </a:solidFill>
                <a:latin typeface="Calibri"/>
              </a:defRPr>
            </a:pPr>
            <a:r>
              <a:t>• Audit Trail: Every cluster change corresponds to a verifiable Git commit hash.</a:t>
            </a:r>
          </a:p>
        </p:txBody>
      </p:sp>
      <p:sp>
        <p:nvSpPr>
          <p:cNvPr id="14" name="Rounded Rectangle 13"/>
          <p:cNvSpPr/>
          <p:nvPr/>
        </p:nvSpPr>
        <p:spPr>
          <a:xfrm>
            <a:off x="8036356" y="1874519"/>
            <a:ext cx="3423818" cy="4434840"/>
          </a:xfrm>
          <a:prstGeom prst="roundRect">
            <a:avLst/>
          </a:prstGeom>
          <a:solidFill>
            <a:srgbClr val="0F172A"/>
          </a:solidFill>
          <a:ln w="1270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173516" y="2011679"/>
            <a:ext cx="3149498" cy="411480"/>
          </a:xfrm>
          <a:prstGeom prst="rect">
            <a:avLst/>
          </a:prstGeom>
          <a:noFill/>
        </p:spPr>
        <p:txBody>
          <a:bodyPr wrap="square">
            <a:spAutoFit/>
          </a:bodyPr>
          <a:lstStyle/>
          <a:p>
            <a:pPr>
              <a:defRPr sz="1400" b="1">
                <a:solidFill>
                  <a:srgbClr val="F59E0B"/>
                </a:solidFill>
                <a:latin typeface="Arial"/>
              </a:defRPr>
            </a:pPr>
            <a:r>
              <a:t>Self-Healing Drift Demonstration</a:t>
            </a:r>
          </a:p>
        </p:txBody>
      </p:sp>
      <p:sp>
        <p:nvSpPr>
          <p:cNvPr id="16" name="TextBox 15"/>
          <p:cNvSpPr txBox="1"/>
          <p:nvPr/>
        </p:nvSpPr>
        <p:spPr>
          <a:xfrm>
            <a:off x="8173516" y="2468879"/>
            <a:ext cx="3149498" cy="3703320"/>
          </a:xfrm>
          <a:prstGeom prst="rect">
            <a:avLst/>
          </a:prstGeom>
          <a:noFill/>
        </p:spPr>
        <p:txBody>
          <a:bodyPr wrap="square">
            <a:spAutoFit/>
          </a:bodyPr>
          <a:lstStyle/>
          <a:p>
            <a:pPr>
              <a:spcAft>
                <a:spcPts val="800"/>
              </a:spcAft>
              <a:defRPr sz="1200">
                <a:solidFill>
                  <a:srgbClr val="F8FAFC"/>
                </a:solidFill>
                <a:latin typeface="Calibri"/>
              </a:defRPr>
            </a:pPr>
            <a:r>
              <a:t>• What is drift?: When someone manually alters resources in the cluster using kubectl.</a:t>
            </a:r>
          </a:p>
          <a:p>
            <a:pPr>
              <a:spcAft>
                <a:spcPts val="800"/>
              </a:spcAft>
              <a:defRPr sz="1200">
                <a:solidFill>
                  <a:srgbClr val="F8FAFC"/>
                </a:solidFill>
                <a:latin typeface="Calibri"/>
              </a:defRPr>
            </a:pPr>
            <a:r>
              <a:t>• Self-Healing (selfHeal: true): ArgoCD detects the discrepancy and immediately reverts it.</a:t>
            </a:r>
          </a:p>
          <a:p>
            <a:pPr>
              <a:spcAft>
                <a:spcPts val="800"/>
              </a:spcAft>
              <a:defRPr sz="1200">
                <a:solidFill>
                  <a:srgbClr val="F8FAFC"/>
                </a:solidFill>
                <a:latin typeface="Calibri"/>
              </a:defRPr>
            </a:pPr>
            <a:r>
              <a:t>• Demo check: If I run 'kubectl scale deployment backend --replicas=5', ArgoCD forces it back to 2.</a:t>
            </a:r>
          </a:p>
        </p:txBody>
      </p:sp>
      <p:sp>
        <p:nvSpPr>
          <p:cNvPr id="17" name="TextBox 16"/>
          <p:cNvSpPr txBox="1"/>
          <p:nvPr/>
        </p:nvSpPr>
        <p:spPr>
          <a:xfrm>
            <a:off x="731520" y="6446520"/>
            <a:ext cx="10728655" cy="274320"/>
          </a:xfrm>
          <a:prstGeom prst="rect">
            <a:avLst/>
          </a:prstGeom>
          <a:noFill/>
        </p:spPr>
        <p:txBody>
          <a:bodyPr wrap="none">
            <a:spAutoFit/>
          </a:bodyPr>
          <a:lstStyle/>
          <a:p>
            <a:pPr>
              <a:defRPr sz="900">
                <a:solidFill>
                  <a:srgbClr val="94A3B8"/>
                </a:solidFill>
                <a:latin typeface="Arial"/>
              </a:defRPr>
            </a:pPr>
            <a:r>
              <a:t>PodiumHQ DevSecOps Capstone Presentation • Verified Codebase &amp; Realistic Engineering</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80C14"/>
          </a:solidFill>
          <a:ln>
            <a:solidFill>
              <a:srgbClr val="080C1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0" y="365760"/>
            <a:ext cx="10728655" cy="54864"/>
          </a:xfrm>
          <a:prstGeom prst="rect">
            <a:avLst/>
          </a:prstGeom>
          <a:solidFill>
            <a:srgbClr val="F59E0B"/>
          </a:solidFill>
          <a:ln>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502920"/>
            <a:ext cx="5486400" cy="320040"/>
          </a:xfrm>
          <a:prstGeom prst="rect">
            <a:avLst/>
          </a:prstGeom>
          <a:noFill/>
        </p:spPr>
        <p:txBody>
          <a:bodyPr wrap="none">
            <a:spAutoFit/>
          </a:bodyPr>
          <a:lstStyle/>
          <a:p>
            <a:pPr>
              <a:defRPr sz="1000" b="1">
                <a:solidFill>
                  <a:srgbClr val="F59E0B"/>
                </a:solidFill>
                <a:latin typeface="Arial"/>
              </a:defRPr>
            </a:pPr>
            <a:r>
              <a:t>STUDENT PRESENTATION • OBSERVABILITY &amp; METRICS</a:t>
            </a:r>
          </a:p>
        </p:txBody>
      </p:sp>
      <p:sp>
        <p:nvSpPr>
          <p:cNvPr id="5" name="TextBox 4"/>
          <p:cNvSpPr txBox="1"/>
          <p:nvPr/>
        </p:nvSpPr>
        <p:spPr>
          <a:xfrm>
            <a:off x="8686800" y="502920"/>
            <a:ext cx="2743200" cy="320040"/>
          </a:xfrm>
          <a:prstGeom prst="rect">
            <a:avLst/>
          </a:prstGeom>
          <a:noFill/>
        </p:spPr>
        <p:txBody>
          <a:bodyPr wrap="none">
            <a:spAutoFit/>
          </a:bodyPr>
          <a:lstStyle/>
          <a:p>
            <a:pPr algn="r">
              <a:defRPr sz="1000" b="1">
                <a:solidFill>
                  <a:srgbClr val="94A3B8"/>
                </a:solidFill>
                <a:latin typeface="Arial"/>
              </a:defRPr>
            </a:pPr>
            <a:r>
              <a:t>SLIDE 8 OF 10</a:t>
            </a:r>
          </a:p>
        </p:txBody>
      </p:sp>
      <p:sp>
        <p:nvSpPr>
          <p:cNvPr id="6" name="TextBox 5"/>
          <p:cNvSpPr txBox="1"/>
          <p:nvPr/>
        </p:nvSpPr>
        <p:spPr>
          <a:xfrm>
            <a:off x="731520" y="777240"/>
            <a:ext cx="10728655" cy="594360"/>
          </a:xfrm>
          <a:prstGeom prst="rect">
            <a:avLst/>
          </a:prstGeom>
          <a:noFill/>
        </p:spPr>
        <p:txBody>
          <a:bodyPr wrap="square">
            <a:spAutoFit/>
          </a:bodyPr>
          <a:lstStyle/>
          <a:p>
            <a:pPr>
              <a:defRPr sz="2400" b="1">
                <a:solidFill>
                  <a:srgbClr val="F8FAFC"/>
                </a:solidFill>
                <a:latin typeface="Arial"/>
              </a:defRPr>
            </a:pPr>
            <a:r>
              <a:t>Observability: Prometheus &amp; Grafana</a:t>
            </a:r>
          </a:p>
        </p:txBody>
      </p:sp>
      <p:sp>
        <p:nvSpPr>
          <p:cNvPr id="7" name="TextBox 6"/>
          <p:cNvSpPr txBox="1"/>
          <p:nvPr/>
        </p:nvSpPr>
        <p:spPr>
          <a:xfrm>
            <a:off x="731520" y="1325880"/>
            <a:ext cx="10728655" cy="411480"/>
          </a:xfrm>
          <a:prstGeom prst="rect">
            <a:avLst/>
          </a:prstGeom>
          <a:noFill/>
        </p:spPr>
        <p:txBody>
          <a:bodyPr wrap="square">
            <a:spAutoFit/>
          </a:bodyPr>
          <a:lstStyle/>
          <a:p>
            <a:pPr>
              <a:defRPr sz="1300">
                <a:solidFill>
                  <a:srgbClr val="10B981"/>
                </a:solidFill>
                <a:latin typeface="Arial"/>
              </a:defRPr>
            </a:pPr>
            <a:r>
              <a:t>Monitoring system health, request traffic, and custom judging metrics</a:t>
            </a:r>
          </a:p>
        </p:txBody>
      </p:sp>
      <p:sp>
        <p:nvSpPr>
          <p:cNvPr id="8" name="Rounded Rectangle 7"/>
          <p:cNvSpPr/>
          <p:nvPr/>
        </p:nvSpPr>
        <p:spPr>
          <a:xfrm>
            <a:off x="731520" y="1874519"/>
            <a:ext cx="3423818" cy="4434840"/>
          </a:xfrm>
          <a:prstGeom prst="roundRect">
            <a:avLst/>
          </a:prstGeom>
          <a:solidFill>
            <a:srgbClr val="0F172A"/>
          </a:solidFill>
          <a:ln w="1270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68680" y="2011679"/>
            <a:ext cx="3149498" cy="411480"/>
          </a:xfrm>
          <a:prstGeom prst="rect">
            <a:avLst/>
          </a:prstGeom>
          <a:noFill/>
        </p:spPr>
        <p:txBody>
          <a:bodyPr wrap="square">
            <a:spAutoFit/>
          </a:bodyPr>
          <a:lstStyle/>
          <a:p>
            <a:pPr>
              <a:defRPr sz="1400" b="1">
                <a:solidFill>
                  <a:srgbClr val="38BDF8"/>
                </a:solidFill>
                <a:latin typeface="Arial"/>
              </a:defRPr>
            </a:pPr>
            <a:r>
              <a:t>System Metrics on /metrics</a:t>
            </a:r>
          </a:p>
        </p:txBody>
      </p:sp>
      <p:sp>
        <p:nvSpPr>
          <p:cNvPr id="10" name="TextBox 9"/>
          <p:cNvSpPr txBox="1"/>
          <p:nvPr/>
        </p:nvSpPr>
        <p:spPr>
          <a:xfrm>
            <a:off x="868680" y="2468879"/>
            <a:ext cx="3149498" cy="3703320"/>
          </a:xfrm>
          <a:prstGeom prst="rect">
            <a:avLst/>
          </a:prstGeom>
          <a:noFill/>
        </p:spPr>
        <p:txBody>
          <a:bodyPr wrap="square">
            <a:spAutoFit/>
          </a:bodyPr>
          <a:lstStyle/>
          <a:p>
            <a:pPr>
              <a:spcAft>
                <a:spcPts val="800"/>
              </a:spcAft>
              <a:defRPr sz="1200">
                <a:solidFill>
                  <a:srgbClr val="F8FAFC"/>
                </a:solidFill>
                <a:latin typeface="Calibri"/>
              </a:defRPr>
            </a:pPr>
            <a:r>
              <a:t>• What it does: Backend exposes a Prometheus-format endpoint at /metrics.</a:t>
            </a:r>
          </a:p>
          <a:p>
            <a:pPr>
              <a:spcAft>
                <a:spcPts val="800"/>
              </a:spcAft>
              <a:defRPr sz="1200">
                <a:solidFill>
                  <a:srgbClr val="F8FAFC"/>
                </a:solidFill>
                <a:latin typeface="Calibri"/>
              </a:defRPr>
            </a:pPr>
            <a:r>
              <a:t>• HTTP Telemetry: Tracks total requests, response status codes (2xx, 4xx, 5xx), and p95 latency.</a:t>
            </a:r>
          </a:p>
          <a:p>
            <a:pPr>
              <a:spcAft>
                <a:spcPts val="800"/>
              </a:spcAft>
              <a:defRPr sz="1200">
                <a:solidFill>
                  <a:srgbClr val="F8FAFC"/>
                </a:solidFill>
                <a:latin typeface="Calibri"/>
              </a:defRPr>
            </a:pPr>
            <a:r>
              <a:t>• Runtime Telemetry: Tracks Python garbage collection, memory usage, CPU time, and open file descriptors.</a:t>
            </a:r>
          </a:p>
        </p:txBody>
      </p:sp>
      <p:sp>
        <p:nvSpPr>
          <p:cNvPr id="11" name="Rounded Rectangle 10"/>
          <p:cNvSpPr/>
          <p:nvPr/>
        </p:nvSpPr>
        <p:spPr>
          <a:xfrm>
            <a:off x="4383938" y="1874519"/>
            <a:ext cx="3423818" cy="4434840"/>
          </a:xfrm>
          <a:prstGeom prst="roundRect">
            <a:avLst/>
          </a:prstGeom>
          <a:solidFill>
            <a:srgbClr val="0F172A"/>
          </a:solidFill>
          <a:ln w="1270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21098" y="2011679"/>
            <a:ext cx="3149498" cy="411480"/>
          </a:xfrm>
          <a:prstGeom prst="rect">
            <a:avLst/>
          </a:prstGeom>
          <a:noFill/>
        </p:spPr>
        <p:txBody>
          <a:bodyPr wrap="square">
            <a:spAutoFit/>
          </a:bodyPr>
          <a:lstStyle/>
          <a:p>
            <a:pPr>
              <a:defRPr sz="1400" b="1">
                <a:solidFill>
                  <a:srgbClr val="10B981"/>
                </a:solidFill>
                <a:latin typeface="Arial"/>
              </a:defRPr>
            </a:pPr>
            <a:r>
              <a:t>Custom Domain Business Metrics</a:t>
            </a:r>
          </a:p>
        </p:txBody>
      </p:sp>
      <p:sp>
        <p:nvSpPr>
          <p:cNvPr id="13" name="TextBox 12"/>
          <p:cNvSpPr txBox="1"/>
          <p:nvPr/>
        </p:nvSpPr>
        <p:spPr>
          <a:xfrm>
            <a:off x="4521098" y="2468879"/>
            <a:ext cx="3149498" cy="3703320"/>
          </a:xfrm>
          <a:prstGeom prst="rect">
            <a:avLst/>
          </a:prstGeom>
          <a:noFill/>
        </p:spPr>
        <p:txBody>
          <a:bodyPr wrap="square">
            <a:spAutoFit/>
          </a:bodyPr>
          <a:lstStyle/>
          <a:p>
            <a:pPr>
              <a:spcAft>
                <a:spcPts val="800"/>
              </a:spcAft>
              <a:defRPr sz="1200">
                <a:solidFill>
                  <a:srgbClr val="F8FAFC"/>
                </a:solidFill>
                <a:latin typeface="Calibri"/>
              </a:defRPr>
            </a:pPr>
            <a:r>
              <a:t>• podiumhq_scores_submitted_total: Counter tracking how many judge scores have been submitted.</a:t>
            </a:r>
          </a:p>
          <a:p>
            <a:pPr>
              <a:spcAft>
                <a:spcPts val="800"/>
              </a:spcAft>
              <a:defRPr sz="1200">
                <a:solidFill>
                  <a:srgbClr val="F8FAFC"/>
                </a:solidFill>
                <a:latin typeface="Calibri"/>
              </a:defRPr>
            </a:pPr>
            <a:r>
              <a:t>• podiumhq_teams_by_status: Gauge showing active vs evaluated teams in the hackathon.</a:t>
            </a:r>
          </a:p>
          <a:p>
            <a:pPr>
              <a:spcAft>
                <a:spcPts val="800"/>
              </a:spcAft>
              <a:defRPr sz="1200">
                <a:solidFill>
                  <a:srgbClr val="F8FAFC"/>
                </a:solidFill>
                <a:latin typeface="Calibri"/>
              </a:defRPr>
            </a:pPr>
            <a:r>
              <a:t>• podiumhq_leaderboard_requests_total: Counter tracking how often the leaderboard is viewed.</a:t>
            </a:r>
          </a:p>
        </p:txBody>
      </p:sp>
      <p:sp>
        <p:nvSpPr>
          <p:cNvPr id="14" name="Rounded Rectangle 13"/>
          <p:cNvSpPr/>
          <p:nvPr/>
        </p:nvSpPr>
        <p:spPr>
          <a:xfrm>
            <a:off x="8036356" y="1874519"/>
            <a:ext cx="3423818" cy="4434840"/>
          </a:xfrm>
          <a:prstGeom prst="roundRect">
            <a:avLst/>
          </a:prstGeom>
          <a:solidFill>
            <a:srgbClr val="0F172A"/>
          </a:solidFill>
          <a:ln w="1270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173516" y="2011679"/>
            <a:ext cx="3149498" cy="411480"/>
          </a:xfrm>
          <a:prstGeom prst="rect">
            <a:avLst/>
          </a:prstGeom>
          <a:noFill/>
        </p:spPr>
        <p:txBody>
          <a:bodyPr wrap="square">
            <a:spAutoFit/>
          </a:bodyPr>
          <a:lstStyle/>
          <a:p>
            <a:pPr>
              <a:defRPr sz="1400" b="1">
                <a:solidFill>
                  <a:srgbClr val="F59E0B"/>
                </a:solidFill>
                <a:latin typeface="Arial"/>
              </a:defRPr>
            </a:pPr>
            <a:r>
              <a:t>Grafana Dashboard &amp; Alert Rules</a:t>
            </a:r>
          </a:p>
        </p:txBody>
      </p:sp>
      <p:sp>
        <p:nvSpPr>
          <p:cNvPr id="16" name="TextBox 15"/>
          <p:cNvSpPr txBox="1"/>
          <p:nvPr/>
        </p:nvSpPr>
        <p:spPr>
          <a:xfrm>
            <a:off x="8173516" y="2468879"/>
            <a:ext cx="3149498" cy="3703320"/>
          </a:xfrm>
          <a:prstGeom prst="rect">
            <a:avLst/>
          </a:prstGeom>
          <a:noFill/>
        </p:spPr>
        <p:txBody>
          <a:bodyPr wrap="square">
            <a:spAutoFit/>
          </a:bodyPr>
          <a:lstStyle/>
          <a:p>
            <a:pPr>
              <a:spcAft>
                <a:spcPts val="800"/>
              </a:spcAft>
              <a:defRPr sz="1200">
                <a:solidFill>
                  <a:srgbClr val="F8FAFC"/>
                </a:solidFill>
                <a:latin typeface="Calibri"/>
              </a:defRPr>
            </a:pPr>
            <a:r>
              <a:t>• Grafana JSON (monitoring/grafana-dashboard.json): 5 panels showing RPS, p95 latency, 5xx errors, and scores.</a:t>
            </a:r>
          </a:p>
          <a:p>
            <a:pPr>
              <a:spcAft>
                <a:spcPts val="800"/>
              </a:spcAft>
              <a:defRPr sz="1200">
                <a:solidFill>
                  <a:srgbClr val="F8FAFC"/>
                </a:solidFill>
                <a:latin typeface="Calibri"/>
              </a:defRPr>
            </a:pPr>
            <a:r>
              <a:t>• PrometheusRule (monitoring/alerts.yaml): Triggers an alert if 5xx errors exceed 1% for 2 minutes.</a:t>
            </a:r>
          </a:p>
          <a:p>
            <a:pPr>
              <a:spcAft>
                <a:spcPts val="800"/>
              </a:spcAft>
              <a:defRPr sz="1200">
                <a:solidFill>
                  <a:srgbClr val="F8FAFC"/>
                </a:solidFill>
                <a:latin typeface="Calibri"/>
              </a:defRPr>
            </a:pPr>
            <a:r>
              <a:t>• Target Down Alert: Alerts immediately if the backend service stops responding.</a:t>
            </a:r>
          </a:p>
        </p:txBody>
      </p:sp>
      <p:sp>
        <p:nvSpPr>
          <p:cNvPr id="17" name="TextBox 16"/>
          <p:cNvSpPr txBox="1"/>
          <p:nvPr/>
        </p:nvSpPr>
        <p:spPr>
          <a:xfrm>
            <a:off x="731520" y="6446520"/>
            <a:ext cx="10728655" cy="274320"/>
          </a:xfrm>
          <a:prstGeom prst="rect">
            <a:avLst/>
          </a:prstGeom>
          <a:noFill/>
        </p:spPr>
        <p:txBody>
          <a:bodyPr wrap="none">
            <a:spAutoFit/>
          </a:bodyPr>
          <a:lstStyle/>
          <a:p>
            <a:pPr>
              <a:defRPr sz="900">
                <a:solidFill>
                  <a:srgbClr val="94A3B8"/>
                </a:solidFill>
                <a:latin typeface="Arial"/>
              </a:defRPr>
            </a:pPr>
            <a:r>
              <a:t>PodiumHQ DevSecOps Capstone Presentation • Verified Codebase &amp; Realistic Engineering</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80C14"/>
          </a:solidFill>
          <a:ln>
            <a:solidFill>
              <a:srgbClr val="080C1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0" y="365760"/>
            <a:ext cx="10728655" cy="54864"/>
          </a:xfrm>
          <a:prstGeom prst="rect">
            <a:avLst/>
          </a:prstGeom>
          <a:solidFill>
            <a:srgbClr val="F59E0B"/>
          </a:solidFill>
          <a:ln>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502920"/>
            <a:ext cx="5486400" cy="320040"/>
          </a:xfrm>
          <a:prstGeom prst="rect">
            <a:avLst/>
          </a:prstGeom>
          <a:noFill/>
        </p:spPr>
        <p:txBody>
          <a:bodyPr wrap="none">
            <a:spAutoFit/>
          </a:bodyPr>
          <a:lstStyle/>
          <a:p>
            <a:pPr>
              <a:defRPr sz="1000" b="1">
                <a:solidFill>
                  <a:srgbClr val="F59E0B"/>
                </a:solidFill>
                <a:latin typeface="Arial"/>
              </a:defRPr>
            </a:pPr>
            <a:r>
              <a:t>STUDENT PRESENTATION • TESTING &amp; REAL DEBUGGING</a:t>
            </a:r>
          </a:p>
        </p:txBody>
      </p:sp>
      <p:sp>
        <p:nvSpPr>
          <p:cNvPr id="5" name="TextBox 4"/>
          <p:cNvSpPr txBox="1"/>
          <p:nvPr/>
        </p:nvSpPr>
        <p:spPr>
          <a:xfrm>
            <a:off x="8686800" y="502920"/>
            <a:ext cx="2743200" cy="320040"/>
          </a:xfrm>
          <a:prstGeom prst="rect">
            <a:avLst/>
          </a:prstGeom>
          <a:noFill/>
        </p:spPr>
        <p:txBody>
          <a:bodyPr wrap="none">
            <a:spAutoFit/>
          </a:bodyPr>
          <a:lstStyle/>
          <a:p>
            <a:pPr algn="r">
              <a:defRPr sz="1000" b="1">
                <a:solidFill>
                  <a:srgbClr val="94A3B8"/>
                </a:solidFill>
                <a:latin typeface="Arial"/>
              </a:defRPr>
            </a:pPr>
            <a:r>
              <a:t>SLIDE 9 OF 10</a:t>
            </a:r>
          </a:p>
        </p:txBody>
      </p:sp>
      <p:sp>
        <p:nvSpPr>
          <p:cNvPr id="6" name="TextBox 5"/>
          <p:cNvSpPr txBox="1"/>
          <p:nvPr/>
        </p:nvSpPr>
        <p:spPr>
          <a:xfrm>
            <a:off x="731520" y="777240"/>
            <a:ext cx="10728655" cy="594360"/>
          </a:xfrm>
          <a:prstGeom prst="rect">
            <a:avLst/>
          </a:prstGeom>
          <a:noFill/>
        </p:spPr>
        <p:txBody>
          <a:bodyPr wrap="square">
            <a:spAutoFit/>
          </a:bodyPr>
          <a:lstStyle/>
          <a:p>
            <a:pPr>
              <a:defRPr sz="2400" b="1">
                <a:solidFill>
                  <a:srgbClr val="F8FAFC"/>
                </a:solidFill>
                <a:latin typeface="Arial"/>
              </a:defRPr>
            </a:pPr>
            <a:r>
              <a:t>Testing, Security &amp; Real Debugging Challenges</a:t>
            </a:r>
          </a:p>
        </p:txBody>
      </p:sp>
      <p:sp>
        <p:nvSpPr>
          <p:cNvPr id="7" name="TextBox 6"/>
          <p:cNvSpPr txBox="1"/>
          <p:nvPr/>
        </p:nvSpPr>
        <p:spPr>
          <a:xfrm>
            <a:off x="731520" y="1325880"/>
            <a:ext cx="10728655" cy="411480"/>
          </a:xfrm>
          <a:prstGeom prst="rect">
            <a:avLst/>
          </a:prstGeom>
          <a:noFill/>
        </p:spPr>
        <p:txBody>
          <a:bodyPr wrap="square">
            <a:spAutoFit/>
          </a:bodyPr>
          <a:lstStyle/>
          <a:p>
            <a:pPr>
              <a:defRPr sz="1300">
                <a:solidFill>
                  <a:srgbClr val="10B981"/>
                </a:solidFill>
                <a:latin typeface="Arial"/>
              </a:defRPr>
            </a:pPr>
            <a:r>
              <a:t>Verified test coverage, non-root checks, and authentic bugs I ran into and fixed</a:t>
            </a:r>
          </a:p>
        </p:txBody>
      </p:sp>
      <p:sp>
        <p:nvSpPr>
          <p:cNvPr id="8" name="Rounded Rectangle 7"/>
          <p:cNvSpPr/>
          <p:nvPr/>
        </p:nvSpPr>
        <p:spPr>
          <a:xfrm>
            <a:off x="731520" y="1874519"/>
            <a:ext cx="3423818" cy="4434840"/>
          </a:xfrm>
          <a:prstGeom prst="roundRect">
            <a:avLst/>
          </a:prstGeom>
          <a:solidFill>
            <a:srgbClr val="0F172A"/>
          </a:solidFill>
          <a:ln w="1270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68680" y="2011679"/>
            <a:ext cx="3149498" cy="411480"/>
          </a:xfrm>
          <a:prstGeom prst="rect">
            <a:avLst/>
          </a:prstGeom>
          <a:noFill/>
        </p:spPr>
        <p:txBody>
          <a:bodyPr wrap="square">
            <a:spAutoFit/>
          </a:bodyPr>
          <a:lstStyle/>
          <a:p>
            <a:pPr>
              <a:defRPr sz="1400" b="1">
                <a:solidFill>
                  <a:srgbClr val="10B981"/>
                </a:solidFill>
                <a:latin typeface="Arial"/>
              </a:defRPr>
            </a:pPr>
            <a:r>
              <a:t>Verified Test &amp; Security Results</a:t>
            </a:r>
          </a:p>
        </p:txBody>
      </p:sp>
      <p:sp>
        <p:nvSpPr>
          <p:cNvPr id="10" name="TextBox 9"/>
          <p:cNvSpPr txBox="1"/>
          <p:nvPr/>
        </p:nvSpPr>
        <p:spPr>
          <a:xfrm>
            <a:off x="868680" y="2468879"/>
            <a:ext cx="3149498" cy="3703320"/>
          </a:xfrm>
          <a:prstGeom prst="rect">
            <a:avLst/>
          </a:prstGeom>
          <a:noFill/>
        </p:spPr>
        <p:txBody>
          <a:bodyPr wrap="square">
            <a:spAutoFit/>
          </a:bodyPr>
          <a:lstStyle/>
          <a:p>
            <a:pPr>
              <a:spcAft>
                <a:spcPts val="800"/>
              </a:spcAft>
              <a:defRPr sz="1200">
                <a:solidFill>
                  <a:srgbClr val="F8FAFC"/>
                </a:solidFill>
                <a:latin typeface="Calibri"/>
              </a:defRPr>
            </a:pPr>
            <a:r>
              <a:t>• Pytest Results: 31 tests passed in 1.32 seconds with 90.99% statement coverage.</a:t>
            </a:r>
          </a:p>
          <a:p>
            <a:pPr>
              <a:spcAft>
                <a:spcPts val="800"/>
              </a:spcAft>
              <a:defRPr sz="1200">
                <a:solidFill>
                  <a:srgbClr val="F8FAFC"/>
                </a:solidFill>
                <a:latin typeface="Calibri"/>
              </a:defRPr>
            </a:pPr>
            <a:r>
              <a:t>• Test Isolation: Runs against an in-memory SQLite database so tests never pollute real data.</a:t>
            </a:r>
          </a:p>
          <a:p>
            <a:pPr>
              <a:spcAft>
                <a:spcPts val="800"/>
              </a:spcAft>
              <a:defRPr sz="1200">
                <a:solidFill>
                  <a:srgbClr val="F8FAFC"/>
                </a:solidFill>
                <a:latin typeface="Calibri"/>
              </a:defRPr>
            </a:pPr>
            <a:r>
              <a:t>• Verified Non-Root: Ran 'docker compose exec backend id' -&gt; uid=10001(appuser) and frontend -&gt; uid=101(nginx).</a:t>
            </a:r>
          </a:p>
        </p:txBody>
      </p:sp>
      <p:sp>
        <p:nvSpPr>
          <p:cNvPr id="11" name="Rounded Rectangle 10"/>
          <p:cNvSpPr/>
          <p:nvPr/>
        </p:nvSpPr>
        <p:spPr>
          <a:xfrm>
            <a:off x="4383938" y="1874519"/>
            <a:ext cx="3423818" cy="4434840"/>
          </a:xfrm>
          <a:prstGeom prst="roundRect">
            <a:avLst/>
          </a:prstGeom>
          <a:solidFill>
            <a:srgbClr val="0F172A"/>
          </a:solidFill>
          <a:ln w="1270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21098" y="2011679"/>
            <a:ext cx="3149498" cy="411480"/>
          </a:xfrm>
          <a:prstGeom prst="rect">
            <a:avLst/>
          </a:prstGeom>
          <a:noFill/>
        </p:spPr>
        <p:txBody>
          <a:bodyPr wrap="square">
            <a:spAutoFit/>
          </a:bodyPr>
          <a:lstStyle/>
          <a:p>
            <a:pPr>
              <a:defRPr sz="1400" b="1">
                <a:solidFill>
                  <a:srgbClr val="F59E0B"/>
                </a:solidFill>
                <a:latin typeface="Arial"/>
              </a:defRPr>
            </a:pPr>
            <a:r>
              <a:t>Real Bug 1: In-Container Pytest Permission Crash</a:t>
            </a:r>
          </a:p>
        </p:txBody>
      </p:sp>
      <p:sp>
        <p:nvSpPr>
          <p:cNvPr id="13" name="TextBox 12"/>
          <p:cNvSpPr txBox="1"/>
          <p:nvPr/>
        </p:nvSpPr>
        <p:spPr>
          <a:xfrm>
            <a:off x="4521098" y="2468879"/>
            <a:ext cx="3149498" cy="3703320"/>
          </a:xfrm>
          <a:prstGeom prst="rect">
            <a:avLst/>
          </a:prstGeom>
          <a:noFill/>
        </p:spPr>
        <p:txBody>
          <a:bodyPr wrap="square">
            <a:spAutoFit/>
          </a:bodyPr>
          <a:lstStyle/>
          <a:p>
            <a:pPr>
              <a:spcAft>
                <a:spcPts val="800"/>
              </a:spcAft>
              <a:defRPr sz="1200">
                <a:solidFill>
                  <a:srgbClr val="F8FAFC"/>
                </a:solidFill>
                <a:latin typeface="Calibri"/>
              </a:defRPr>
            </a:pPr>
            <a:r>
              <a:t>• The Problem: Running pytest inside the backend container crashed with sqlite3.OperationalError.</a:t>
            </a:r>
          </a:p>
          <a:p>
            <a:pPr>
              <a:spcAft>
                <a:spcPts val="800"/>
              </a:spcAft>
              <a:defRPr sz="1200">
                <a:solidFill>
                  <a:srgbClr val="F8FAFC"/>
                </a:solidFill>
                <a:latin typeface="Calibri"/>
              </a:defRPr>
            </a:pPr>
            <a:r>
              <a:t>• Root Cause: Working directory /app was created by Docker as root; appuser couldn't write the .coverage file.</a:t>
            </a:r>
          </a:p>
          <a:p>
            <a:pPr>
              <a:spcAft>
                <a:spcPts val="800"/>
              </a:spcAft>
              <a:defRPr sz="1200">
                <a:solidFill>
                  <a:srgbClr val="F8FAFC"/>
                </a:solidFill>
                <a:latin typeface="Calibri"/>
              </a:defRPr>
            </a:pPr>
            <a:r>
              <a:t>• The Fix: Added explicit 'RUN chown -R appuser:appgroup /app' in the Dockerfile.</a:t>
            </a:r>
          </a:p>
        </p:txBody>
      </p:sp>
      <p:sp>
        <p:nvSpPr>
          <p:cNvPr id="14" name="Rounded Rectangle 13"/>
          <p:cNvSpPr/>
          <p:nvPr/>
        </p:nvSpPr>
        <p:spPr>
          <a:xfrm>
            <a:off x="8036356" y="1874519"/>
            <a:ext cx="3423818" cy="4434840"/>
          </a:xfrm>
          <a:prstGeom prst="roundRect">
            <a:avLst/>
          </a:prstGeom>
          <a:solidFill>
            <a:srgbClr val="0F172A"/>
          </a:solidFill>
          <a:ln w="1270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173516" y="2011679"/>
            <a:ext cx="3149498" cy="411480"/>
          </a:xfrm>
          <a:prstGeom prst="rect">
            <a:avLst/>
          </a:prstGeom>
          <a:noFill/>
        </p:spPr>
        <p:txBody>
          <a:bodyPr wrap="square">
            <a:spAutoFit/>
          </a:bodyPr>
          <a:lstStyle/>
          <a:p>
            <a:pPr>
              <a:defRPr sz="1400" b="1">
                <a:solidFill>
                  <a:srgbClr val="38BDF8"/>
                </a:solidFill>
                <a:latin typeface="Arial"/>
              </a:defRPr>
            </a:pPr>
            <a:r>
              <a:t>Real Bug 2: Nginx IPv6 Healthcheck Failure</a:t>
            </a:r>
          </a:p>
        </p:txBody>
      </p:sp>
      <p:sp>
        <p:nvSpPr>
          <p:cNvPr id="16" name="TextBox 15"/>
          <p:cNvSpPr txBox="1"/>
          <p:nvPr/>
        </p:nvSpPr>
        <p:spPr>
          <a:xfrm>
            <a:off x="8173516" y="2468879"/>
            <a:ext cx="3149498" cy="3703320"/>
          </a:xfrm>
          <a:prstGeom prst="rect">
            <a:avLst/>
          </a:prstGeom>
          <a:noFill/>
        </p:spPr>
        <p:txBody>
          <a:bodyPr wrap="square">
            <a:spAutoFit/>
          </a:bodyPr>
          <a:lstStyle/>
          <a:p>
            <a:pPr>
              <a:spcAft>
                <a:spcPts val="800"/>
              </a:spcAft>
              <a:defRPr sz="1200">
                <a:solidFill>
                  <a:srgbClr val="F8FAFC"/>
                </a:solidFill>
                <a:latin typeface="Calibri"/>
              </a:defRPr>
            </a:pPr>
            <a:r>
              <a:t>• The Problem: Docker Compose reported the frontend container as 'unhealthy' even though web pages loaded.</a:t>
            </a:r>
          </a:p>
          <a:p>
            <a:pPr>
              <a:spcAft>
                <a:spcPts val="800"/>
              </a:spcAft>
              <a:defRPr sz="1200">
                <a:solidFill>
                  <a:srgbClr val="F8FAFC"/>
                </a:solidFill>
                <a:latin typeface="Calibri"/>
              </a:defRPr>
            </a:pPr>
            <a:r>
              <a:t>• Root Cause: BusyBox wget resolved localhost to IPv6 ::1, but Nginx was only listening on IPv4 8080.</a:t>
            </a:r>
          </a:p>
          <a:p>
            <a:pPr>
              <a:spcAft>
                <a:spcPts val="800"/>
              </a:spcAft>
              <a:defRPr sz="1200">
                <a:solidFill>
                  <a:srgbClr val="F8FAFC"/>
                </a:solidFill>
                <a:latin typeface="Calibri"/>
              </a:defRPr>
            </a:pPr>
            <a:r>
              <a:t>• The Fix: Added 'listen [::]:8080 default_server;' to the Nginx template and updated probe to 127.0.0.1.</a:t>
            </a:r>
          </a:p>
        </p:txBody>
      </p:sp>
      <p:sp>
        <p:nvSpPr>
          <p:cNvPr id="17" name="TextBox 16"/>
          <p:cNvSpPr txBox="1"/>
          <p:nvPr/>
        </p:nvSpPr>
        <p:spPr>
          <a:xfrm>
            <a:off x="731520" y="6446520"/>
            <a:ext cx="10728655" cy="274320"/>
          </a:xfrm>
          <a:prstGeom prst="rect">
            <a:avLst/>
          </a:prstGeom>
          <a:noFill/>
        </p:spPr>
        <p:txBody>
          <a:bodyPr wrap="none">
            <a:spAutoFit/>
          </a:bodyPr>
          <a:lstStyle/>
          <a:p>
            <a:pPr>
              <a:defRPr sz="900">
                <a:solidFill>
                  <a:srgbClr val="94A3B8"/>
                </a:solidFill>
                <a:latin typeface="Arial"/>
              </a:defRPr>
            </a:pPr>
            <a:r>
              <a:t>PodiumHQ DevSecOps Capstone Presentation • Verified Codebase &amp; Realistic Engineering</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80C14"/>
          </a:solidFill>
          <a:ln>
            <a:solidFill>
              <a:srgbClr val="080C1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0" y="365760"/>
            <a:ext cx="10728655" cy="54864"/>
          </a:xfrm>
          <a:prstGeom prst="rect">
            <a:avLst/>
          </a:prstGeom>
          <a:solidFill>
            <a:srgbClr val="F59E0B"/>
          </a:solidFill>
          <a:ln>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502920"/>
            <a:ext cx="5486400" cy="320040"/>
          </a:xfrm>
          <a:prstGeom prst="rect">
            <a:avLst/>
          </a:prstGeom>
          <a:noFill/>
        </p:spPr>
        <p:txBody>
          <a:bodyPr wrap="none">
            <a:spAutoFit/>
          </a:bodyPr>
          <a:lstStyle/>
          <a:p>
            <a:pPr>
              <a:defRPr sz="1000" b="1">
                <a:solidFill>
                  <a:srgbClr val="F59E0B"/>
                </a:solidFill>
                <a:latin typeface="Arial"/>
              </a:defRPr>
            </a:pPr>
            <a:r>
              <a:t>STUDENT PRESENTATION • CONCLUSION &amp; LEARNINGS</a:t>
            </a:r>
          </a:p>
        </p:txBody>
      </p:sp>
      <p:sp>
        <p:nvSpPr>
          <p:cNvPr id="5" name="TextBox 4"/>
          <p:cNvSpPr txBox="1"/>
          <p:nvPr/>
        </p:nvSpPr>
        <p:spPr>
          <a:xfrm>
            <a:off x="8686800" y="502920"/>
            <a:ext cx="2743200" cy="320040"/>
          </a:xfrm>
          <a:prstGeom prst="rect">
            <a:avLst/>
          </a:prstGeom>
          <a:noFill/>
        </p:spPr>
        <p:txBody>
          <a:bodyPr wrap="none">
            <a:spAutoFit/>
          </a:bodyPr>
          <a:lstStyle/>
          <a:p>
            <a:pPr algn="r">
              <a:defRPr sz="1000" b="1">
                <a:solidFill>
                  <a:srgbClr val="94A3B8"/>
                </a:solidFill>
                <a:latin typeface="Arial"/>
              </a:defRPr>
            </a:pPr>
            <a:r>
              <a:t>SLIDE 10 OF 10</a:t>
            </a:r>
          </a:p>
        </p:txBody>
      </p:sp>
      <p:sp>
        <p:nvSpPr>
          <p:cNvPr id="6" name="TextBox 5"/>
          <p:cNvSpPr txBox="1"/>
          <p:nvPr/>
        </p:nvSpPr>
        <p:spPr>
          <a:xfrm>
            <a:off x="731520" y="777240"/>
            <a:ext cx="10728655" cy="594360"/>
          </a:xfrm>
          <a:prstGeom prst="rect">
            <a:avLst/>
          </a:prstGeom>
          <a:noFill/>
        </p:spPr>
        <p:txBody>
          <a:bodyPr wrap="square">
            <a:spAutoFit/>
          </a:bodyPr>
          <a:lstStyle/>
          <a:p>
            <a:pPr>
              <a:defRPr sz="2400" b="1">
                <a:solidFill>
                  <a:srgbClr val="F8FAFC"/>
                </a:solidFill>
                <a:latin typeface="Arial"/>
              </a:defRPr>
            </a:pPr>
            <a:r>
              <a:t>Summary, Limitations &amp; Key Learnings</a:t>
            </a:r>
          </a:p>
        </p:txBody>
      </p:sp>
      <p:sp>
        <p:nvSpPr>
          <p:cNvPr id="7" name="TextBox 6"/>
          <p:cNvSpPr txBox="1"/>
          <p:nvPr/>
        </p:nvSpPr>
        <p:spPr>
          <a:xfrm>
            <a:off x="731520" y="1325880"/>
            <a:ext cx="10728655" cy="411480"/>
          </a:xfrm>
          <a:prstGeom prst="rect">
            <a:avLst/>
          </a:prstGeom>
          <a:noFill/>
        </p:spPr>
        <p:txBody>
          <a:bodyPr wrap="square">
            <a:spAutoFit/>
          </a:bodyPr>
          <a:lstStyle/>
          <a:p>
            <a:pPr>
              <a:defRPr sz="1300">
                <a:solidFill>
                  <a:srgbClr val="10B981"/>
                </a:solidFill>
                <a:latin typeface="Arial"/>
              </a:defRPr>
            </a:pPr>
            <a:r>
              <a:t>Honest self-assessment of achievements, cloud limitations, and future improvements</a:t>
            </a:r>
          </a:p>
        </p:txBody>
      </p:sp>
      <p:sp>
        <p:nvSpPr>
          <p:cNvPr id="8" name="Rounded Rectangle 7"/>
          <p:cNvSpPr/>
          <p:nvPr/>
        </p:nvSpPr>
        <p:spPr>
          <a:xfrm>
            <a:off x="731520" y="1874519"/>
            <a:ext cx="3423818" cy="4434840"/>
          </a:xfrm>
          <a:prstGeom prst="roundRect">
            <a:avLst/>
          </a:prstGeom>
          <a:solidFill>
            <a:srgbClr val="0F172A"/>
          </a:solidFill>
          <a:ln w="1270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68680" y="2011679"/>
            <a:ext cx="3149498" cy="411480"/>
          </a:xfrm>
          <a:prstGeom prst="rect">
            <a:avLst/>
          </a:prstGeom>
          <a:noFill/>
        </p:spPr>
        <p:txBody>
          <a:bodyPr wrap="square">
            <a:spAutoFit/>
          </a:bodyPr>
          <a:lstStyle/>
          <a:p>
            <a:pPr>
              <a:defRPr sz="1400" b="1">
                <a:solidFill>
                  <a:srgbClr val="10B981"/>
                </a:solidFill>
                <a:latin typeface="Arial"/>
              </a:defRPr>
            </a:pPr>
            <a:r>
              <a:t>What Works &amp; Was Verified</a:t>
            </a:r>
          </a:p>
        </p:txBody>
      </p:sp>
      <p:sp>
        <p:nvSpPr>
          <p:cNvPr id="10" name="TextBox 9"/>
          <p:cNvSpPr txBox="1"/>
          <p:nvPr/>
        </p:nvSpPr>
        <p:spPr>
          <a:xfrm>
            <a:off x="868680" y="2468879"/>
            <a:ext cx="3149498" cy="3703320"/>
          </a:xfrm>
          <a:prstGeom prst="rect">
            <a:avLst/>
          </a:prstGeom>
          <a:noFill/>
        </p:spPr>
        <p:txBody>
          <a:bodyPr wrap="square">
            <a:spAutoFit/>
          </a:bodyPr>
          <a:lstStyle/>
          <a:p>
            <a:pPr>
              <a:spcAft>
                <a:spcPts val="800"/>
              </a:spcAft>
              <a:defRPr sz="1200">
                <a:solidFill>
                  <a:srgbClr val="F8FAFC"/>
                </a:solidFill>
                <a:latin typeface="Calibri"/>
              </a:defRPr>
            </a:pPr>
            <a:r>
              <a:t>• Fully functional hackathon scoring platform running locally on Docker Compose.</a:t>
            </a:r>
          </a:p>
          <a:p>
            <a:pPr>
              <a:spcAft>
                <a:spcPts val="800"/>
              </a:spcAft>
              <a:defRPr sz="1200">
                <a:solidFill>
                  <a:srgbClr val="F8FAFC"/>
                </a:solidFill>
                <a:latin typeface="Calibri"/>
              </a:defRPr>
            </a:pPr>
            <a:r>
              <a:t>• 31 automated tests passing with 90.99% coverage and isolated test fixtures.</a:t>
            </a:r>
          </a:p>
          <a:p>
            <a:pPr>
              <a:spcAft>
                <a:spcPts val="800"/>
              </a:spcAft>
              <a:defRPr sz="1200">
                <a:solidFill>
                  <a:srgbClr val="F8FAFC"/>
                </a:solidFill>
                <a:latin typeface="Calibri"/>
              </a:defRPr>
            </a:pPr>
            <a:r>
              <a:t>• Non-root container execution verified live on both backend and frontend.</a:t>
            </a:r>
          </a:p>
          <a:p>
            <a:pPr>
              <a:spcAft>
                <a:spcPts val="800"/>
              </a:spcAft>
              <a:defRPr sz="1200">
                <a:solidFill>
                  <a:srgbClr val="F8FAFC"/>
                </a:solidFill>
                <a:latin typeface="Calibri"/>
              </a:defRPr>
            </a:pPr>
            <a:r>
              <a:t>• Complete, validated manifest suite: Terraform, Helm chart, ArgoCD, and Prometheus.</a:t>
            </a:r>
          </a:p>
        </p:txBody>
      </p:sp>
      <p:sp>
        <p:nvSpPr>
          <p:cNvPr id="11" name="Rounded Rectangle 10"/>
          <p:cNvSpPr/>
          <p:nvPr/>
        </p:nvSpPr>
        <p:spPr>
          <a:xfrm>
            <a:off x="4383938" y="1874519"/>
            <a:ext cx="3423818" cy="4434840"/>
          </a:xfrm>
          <a:prstGeom prst="roundRect">
            <a:avLst/>
          </a:prstGeom>
          <a:solidFill>
            <a:srgbClr val="0F172A"/>
          </a:solidFill>
          <a:ln w="1270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21098" y="2011679"/>
            <a:ext cx="3149498" cy="411480"/>
          </a:xfrm>
          <a:prstGeom prst="rect">
            <a:avLst/>
          </a:prstGeom>
          <a:noFill/>
        </p:spPr>
        <p:txBody>
          <a:bodyPr wrap="square">
            <a:spAutoFit/>
          </a:bodyPr>
          <a:lstStyle/>
          <a:p>
            <a:pPr>
              <a:defRPr sz="1400" b="1">
                <a:solidFill>
                  <a:srgbClr val="F59E0B"/>
                </a:solidFill>
                <a:latin typeface="Arial"/>
              </a:defRPr>
            </a:pPr>
            <a:r>
              <a:t>Honest Limitations (Cloud Scope)</a:t>
            </a:r>
          </a:p>
        </p:txBody>
      </p:sp>
      <p:sp>
        <p:nvSpPr>
          <p:cNvPr id="13" name="TextBox 12"/>
          <p:cNvSpPr txBox="1"/>
          <p:nvPr/>
        </p:nvSpPr>
        <p:spPr>
          <a:xfrm>
            <a:off x="4521098" y="2468879"/>
            <a:ext cx="3149498" cy="3703320"/>
          </a:xfrm>
          <a:prstGeom prst="rect">
            <a:avLst/>
          </a:prstGeom>
          <a:noFill/>
        </p:spPr>
        <p:txBody>
          <a:bodyPr wrap="square">
            <a:spAutoFit/>
          </a:bodyPr>
          <a:lstStyle/>
          <a:p>
            <a:pPr>
              <a:spcAft>
                <a:spcPts val="800"/>
              </a:spcAft>
              <a:defRPr sz="1200">
                <a:solidFill>
                  <a:srgbClr val="F8FAFC"/>
                </a:solidFill>
                <a:latin typeface="Calibri"/>
              </a:defRPr>
            </a:pPr>
            <a:r>
              <a:t>• AWS EKS &amp; ArgoCD were not deployed to live cloud infrastructure to avoid ongoing student cloud costs.</a:t>
            </a:r>
          </a:p>
          <a:p>
            <a:pPr>
              <a:spcAft>
                <a:spcPts val="800"/>
              </a:spcAft>
              <a:defRPr sz="1200">
                <a:solidFill>
                  <a:srgbClr val="F8FAFC"/>
                </a:solidFill>
                <a:latin typeface="Calibri"/>
              </a:defRPr>
            </a:pPr>
            <a:r>
              <a:t>• All cloud manifests are written, syntactically validated, and ready for deployment.</a:t>
            </a:r>
          </a:p>
          <a:p>
            <a:pPr>
              <a:spcAft>
                <a:spcPts val="800"/>
              </a:spcAft>
              <a:defRPr sz="1200">
                <a:solidFill>
                  <a:srgbClr val="F8FAFC"/>
                </a:solidFill>
                <a:latin typeface="Calibri"/>
              </a:defRPr>
            </a:pPr>
            <a:r>
              <a:t>• Everything runnable locally was verified 100% green with saved evidence files.</a:t>
            </a:r>
          </a:p>
        </p:txBody>
      </p:sp>
      <p:sp>
        <p:nvSpPr>
          <p:cNvPr id="14" name="Rounded Rectangle 13"/>
          <p:cNvSpPr/>
          <p:nvPr/>
        </p:nvSpPr>
        <p:spPr>
          <a:xfrm>
            <a:off x="8036356" y="1874519"/>
            <a:ext cx="3423818" cy="4434840"/>
          </a:xfrm>
          <a:prstGeom prst="roundRect">
            <a:avLst/>
          </a:prstGeom>
          <a:solidFill>
            <a:srgbClr val="0F172A"/>
          </a:solidFill>
          <a:ln w="1270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173516" y="2011679"/>
            <a:ext cx="3149498" cy="411480"/>
          </a:xfrm>
          <a:prstGeom prst="rect">
            <a:avLst/>
          </a:prstGeom>
          <a:noFill/>
        </p:spPr>
        <p:txBody>
          <a:bodyPr wrap="square">
            <a:spAutoFit/>
          </a:bodyPr>
          <a:lstStyle/>
          <a:p>
            <a:pPr>
              <a:defRPr sz="1400" b="1">
                <a:solidFill>
                  <a:srgbClr val="38BDF8"/>
                </a:solidFill>
                <a:latin typeface="Arial"/>
              </a:defRPr>
            </a:pPr>
            <a:r>
              <a:t>Top Engineering Lessons</a:t>
            </a:r>
          </a:p>
        </p:txBody>
      </p:sp>
      <p:sp>
        <p:nvSpPr>
          <p:cNvPr id="16" name="TextBox 15"/>
          <p:cNvSpPr txBox="1"/>
          <p:nvPr/>
        </p:nvSpPr>
        <p:spPr>
          <a:xfrm>
            <a:off x="8173516" y="2468879"/>
            <a:ext cx="3149498" cy="3703320"/>
          </a:xfrm>
          <a:prstGeom prst="rect">
            <a:avLst/>
          </a:prstGeom>
          <a:noFill/>
        </p:spPr>
        <p:txBody>
          <a:bodyPr wrap="square">
            <a:spAutoFit/>
          </a:bodyPr>
          <a:lstStyle/>
          <a:p>
            <a:pPr>
              <a:spcAft>
                <a:spcPts val="800"/>
              </a:spcAft>
              <a:defRPr sz="1200">
                <a:solidFill>
                  <a:srgbClr val="F8FAFC"/>
                </a:solidFill>
                <a:latin typeface="Calibri"/>
              </a:defRPr>
            </a:pPr>
            <a:r>
              <a:t>• DevSecOps is in the details: file permissions, non-root users, and dual-stack networking.</a:t>
            </a:r>
          </a:p>
          <a:p>
            <a:pPr>
              <a:spcAft>
                <a:spcPts val="800"/>
              </a:spcAft>
              <a:defRPr sz="1200">
                <a:solidFill>
                  <a:srgbClr val="F8FAFC"/>
                </a:solidFill>
                <a:latin typeface="Calibri"/>
              </a:defRPr>
            </a:pPr>
            <a:r>
              <a:t>• Helm pre-upgrade hooks are crucial to prevent database migration locks across replicas.</a:t>
            </a:r>
          </a:p>
          <a:p>
            <a:pPr>
              <a:spcAft>
                <a:spcPts val="800"/>
              </a:spcAft>
              <a:defRPr sz="1200">
                <a:solidFill>
                  <a:srgbClr val="F8FAFC"/>
                </a:solidFill>
                <a:latin typeface="Calibri"/>
              </a:defRPr>
            </a:pPr>
            <a:r>
              <a:t>• Immutable image tags (Git commit SHAs) prevent deployment caching confusion.</a:t>
            </a:r>
          </a:p>
        </p:txBody>
      </p:sp>
      <p:sp>
        <p:nvSpPr>
          <p:cNvPr id="17" name="TextBox 16"/>
          <p:cNvSpPr txBox="1"/>
          <p:nvPr/>
        </p:nvSpPr>
        <p:spPr>
          <a:xfrm>
            <a:off x="731520" y="6446520"/>
            <a:ext cx="10728655" cy="274320"/>
          </a:xfrm>
          <a:prstGeom prst="rect">
            <a:avLst/>
          </a:prstGeom>
          <a:noFill/>
        </p:spPr>
        <p:txBody>
          <a:bodyPr wrap="none">
            <a:spAutoFit/>
          </a:bodyPr>
          <a:lstStyle/>
          <a:p>
            <a:pPr>
              <a:defRPr sz="900">
                <a:solidFill>
                  <a:srgbClr val="94A3B8"/>
                </a:solidFill>
                <a:latin typeface="Arial"/>
              </a:defRPr>
            </a:pPr>
            <a:r>
              <a:t>PodiumHQ DevSecOps Capstone Presentation • Verified Codebase &amp; Realistic Engineering</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